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2" r:id="rId2"/>
    <p:sldId id="257" r:id="rId3"/>
    <p:sldId id="269" r:id="rId4"/>
    <p:sldId id="270" r:id="rId5"/>
    <p:sldId id="258" r:id="rId6"/>
    <p:sldId id="259" r:id="rId7"/>
    <p:sldId id="260" r:id="rId8"/>
    <p:sldId id="271" r:id="rId9"/>
    <p:sldId id="261" r:id="rId10"/>
    <p:sldId id="262" r:id="rId11"/>
    <p:sldId id="273" r:id="rId12"/>
    <p:sldId id="268" r:id="rId13"/>
    <p:sldId id="276" r:id="rId14"/>
    <p:sldId id="275" r:id="rId15"/>
  </p:sldIdLst>
  <p:sldSz cx="18288000" cy="10287000"/>
  <p:notesSz cx="6858000" cy="9144000"/>
  <p:embeddedFontLst>
    <p:embeddedFont>
      <p:font typeface="DM Sans" pitchFamily="2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Light" panose="00000400000000000000" pitchFamily="2" charset="0"/>
      <p:regular r:id="rId24"/>
      <p:italic r:id="rId25"/>
    </p:embeddedFont>
    <p:embeddedFont>
      <p:font typeface="Oswald" panose="00000500000000000000" pitchFamily="2" charset="0"/>
      <p:regular r:id="rId26"/>
      <p:bold r:id="rId27"/>
    </p:embeddedFont>
    <p:embeddedFont>
      <p:font typeface="Oswald Bold" panose="00000800000000000000" pitchFamily="2" charset="0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D6B8"/>
    <a:srgbClr val="231F20"/>
    <a:srgbClr val="014374"/>
    <a:srgbClr val="F2F4F5"/>
    <a:srgbClr val="0F88C5"/>
    <a:srgbClr val="BA2488"/>
    <a:srgbClr val="0E549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7D81C6-EEED-D8A4-DD9E-2929F983B771}" v="373" dt="2026-09-28T16:08:51.006"/>
    <p1510:client id="{50A0862F-C667-A649-E8AF-08C0729B8B52}" v="15" dt="2026-09-29T16:45:34.373"/>
    <p1510:client id="{61ECDCBF-17CA-126B-5CB8-91EF0BDCA07C}" v="14" dt="2026-09-28T17:04:29.285"/>
    <p1510:client id="{C0ED6E0D-3DAF-E4FF-08C1-BBB89CED2F12}" v="9" dt="2026-09-29T16:15:08.684"/>
    <p1510:client id="{C6D2AD0C-CEA1-4DAB-F239-E2C03176147E}" v="326" dt="2026-09-29T16:04:56.798"/>
    <p1510:client id="{E4CF16C3-6E7D-8D21-1855-373E132404A2}" v="29" dt="2026-09-29T17:58:14.815"/>
    <p1510:client id="{EA7EBBBC-68C3-790D-B165-E45314745CC9}" v="62" dt="2026-09-29T13:47:05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microsoft.com/office/2007/relationships/hdphoto" Target="../media/hdphoto7.wdp"/><Relationship Id="rId26" Type="http://schemas.openxmlformats.org/officeDocument/2006/relationships/image" Target="../media/image18.jpeg"/><Relationship Id="rId39" Type="http://schemas.openxmlformats.org/officeDocument/2006/relationships/image" Target="../media/image30.png"/><Relationship Id="rId21" Type="http://schemas.openxmlformats.org/officeDocument/2006/relationships/image" Target="../media/image14.png"/><Relationship Id="rId34" Type="http://schemas.openxmlformats.org/officeDocument/2006/relationships/image" Target="../media/image25.jpeg"/><Relationship Id="rId7" Type="http://schemas.openxmlformats.org/officeDocument/2006/relationships/image" Target="../media/image7.png"/><Relationship Id="rId2" Type="http://schemas.openxmlformats.org/officeDocument/2006/relationships/image" Target="../media/image3.jpeg"/><Relationship Id="rId16" Type="http://schemas.microsoft.com/office/2007/relationships/hdphoto" Target="../media/hdphoto6.wdp"/><Relationship Id="rId20" Type="http://schemas.microsoft.com/office/2007/relationships/hdphoto" Target="../media/hdphoto8.wdp"/><Relationship Id="rId29" Type="http://schemas.openxmlformats.org/officeDocument/2006/relationships/image" Target="../media/image21.jpeg"/><Relationship Id="rId41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9.png"/><Relationship Id="rId24" Type="http://schemas.openxmlformats.org/officeDocument/2006/relationships/image" Target="../media/image16.png"/><Relationship Id="rId32" Type="http://schemas.openxmlformats.org/officeDocument/2006/relationships/image" Target="../media/image24.png"/><Relationship Id="rId37" Type="http://schemas.openxmlformats.org/officeDocument/2006/relationships/image" Target="../media/image28.jpeg"/><Relationship Id="rId40" Type="http://schemas.openxmlformats.org/officeDocument/2006/relationships/image" Target="../media/image31.jpe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microsoft.com/office/2007/relationships/hdphoto" Target="../media/hdphoto9.wdp"/><Relationship Id="rId28" Type="http://schemas.openxmlformats.org/officeDocument/2006/relationships/image" Target="../media/image20.png"/><Relationship Id="rId36" Type="http://schemas.openxmlformats.org/officeDocument/2006/relationships/image" Target="../media/image27.png"/><Relationship Id="rId10" Type="http://schemas.microsoft.com/office/2007/relationships/hdphoto" Target="../media/hdphoto3.wdp"/><Relationship Id="rId19" Type="http://schemas.openxmlformats.org/officeDocument/2006/relationships/image" Target="../media/image13.png"/><Relationship Id="rId31" Type="http://schemas.openxmlformats.org/officeDocument/2006/relationships/image" Target="../media/image23.jpeg"/><Relationship Id="rId4" Type="http://schemas.openxmlformats.org/officeDocument/2006/relationships/image" Target="../media/image5.jpeg"/><Relationship Id="rId9" Type="http://schemas.openxmlformats.org/officeDocument/2006/relationships/image" Target="../media/image8.png"/><Relationship Id="rId14" Type="http://schemas.microsoft.com/office/2007/relationships/hdphoto" Target="../media/hdphoto5.wdp"/><Relationship Id="rId22" Type="http://schemas.openxmlformats.org/officeDocument/2006/relationships/image" Target="../media/image15.png"/><Relationship Id="rId27" Type="http://schemas.openxmlformats.org/officeDocument/2006/relationships/image" Target="../media/image19.png"/><Relationship Id="rId30" Type="http://schemas.openxmlformats.org/officeDocument/2006/relationships/image" Target="../media/image22.jpeg"/><Relationship Id="rId35" Type="http://schemas.openxmlformats.org/officeDocument/2006/relationships/image" Target="../media/image26.jpeg"/><Relationship Id="rId8" Type="http://schemas.microsoft.com/office/2007/relationships/hdphoto" Target="../media/hdphoto2.wdp"/><Relationship Id="rId3" Type="http://schemas.openxmlformats.org/officeDocument/2006/relationships/image" Target="../media/image4.jpeg"/><Relationship Id="rId12" Type="http://schemas.microsoft.com/office/2007/relationships/hdphoto" Target="../media/hdphoto4.wdp"/><Relationship Id="rId17" Type="http://schemas.openxmlformats.org/officeDocument/2006/relationships/image" Target="../media/image12.png"/><Relationship Id="rId25" Type="http://schemas.openxmlformats.org/officeDocument/2006/relationships/image" Target="../media/image17.png"/><Relationship Id="rId33" Type="http://schemas.microsoft.com/office/2007/relationships/hdphoto" Target="../media/hdphoto10.wdp"/><Relationship Id="rId38" Type="http://schemas.openxmlformats.org/officeDocument/2006/relationships/image" Target="../media/image2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certhotels.com/got-rhythm" TargetMode="External"/><Relationship Id="rId2" Type="http://schemas.openxmlformats.org/officeDocument/2006/relationships/hyperlink" Target="https://www.nidcd.nih.gov/tunestest/take-distorted-tunes-test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ABE87-62D2-EED0-FDE4-A4B93CEE0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usic Sheets Swirl Images – Browse 12,292 Stock Photos, Vectors, and Video  | Adobe Stock">
            <a:extLst>
              <a:ext uri="{FF2B5EF4-FFF2-40B4-BE49-F238E27FC236}">
                <a16:creationId xmlns:a16="http://schemas.microsoft.com/office/drawing/2014/main" id="{F3A857F0-2286-AF66-F874-3CE17580120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1139001">
            <a:off x="-167190" y="-702294"/>
            <a:ext cx="19091889" cy="7900092"/>
          </a:xfrm>
          <a:prstGeom prst="rect">
            <a:avLst/>
          </a:prstGeom>
        </p:spPr>
      </p:pic>
      <p:pic>
        <p:nvPicPr>
          <p:cNvPr id="6" name="Picture 5" descr="Music Sheets Swirl Images – Browse 12,292 Stock Photos, Vectors, and Video  | Adobe Stock">
            <a:extLst>
              <a:ext uri="{FF2B5EF4-FFF2-40B4-BE49-F238E27FC236}">
                <a16:creationId xmlns:a16="http://schemas.microsoft.com/office/drawing/2014/main" id="{F6709CB5-D518-8DD1-D13D-FD396362E9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25473"/>
          <a:stretch>
            <a:fillRect/>
          </a:stretch>
        </p:blipFill>
        <p:spPr>
          <a:xfrm rot="21139001">
            <a:off x="4674366" y="-1027406"/>
            <a:ext cx="14228500" cy="7900092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8" name="Picture 7" descr="Music Sheets Swirl Images – Browse 12,292 Stock Photos, Vectors, and Video  | Adobe Stock">
            <a:extLst>
              <a:ext uri="{FF2B5EF4-FFF2-40B4-BE49-F238E27FC236}">
                <a16:creationId xmlns:a16="http://schemas.microsoft.com/office/drawing/2014/main" id="{7C09858F-8178-0E6E-E3AD-4623E7DD4F4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024"/>
          <a:stretch>
            <a:fillRect/>
          </a:stretch>
        </p:blipFill>
        <p:spPr>
          <a:xfrm rot="21139001">
            <a:off x="9530594" y="-1320243"/>
            <a:ext cx="9350374" cy="7900092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95C97F38-374A-F2FA-BAD6-2F00DF775724}"/>
              </a:ext>
            </a:extLst>
          </p:cNvPr>
          <p:cNvSpPr txBox="1"/>
          <p:nvPr/>
        </p:nvSpPr>
        <p:spPr>
          <a:xfrm>
            <a:off x="838200" y="3848100"/>
            <a:ext cx="14465639" cy="4006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9600" b="1" spc="161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WHAT IS </a:t>
            </a:r>
            <a:r>
              <a:rPr lang="en-US" sz="16437" b="1" spc="161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MUSICALITY?</a:t>
            </a: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14768ECE-8B2D-4780-9096-567A21079F5D}"/>
              </a:ext>
            </a:extLst>
          </p:cNvPr>
          <p:cNvSpPr txBox="1"/>
          <p:nvPr/>
        </p:nvSpPr>
        <p:spPr>
          <a:xfrm>
            <a:off x="838200" y="8343900"/>
            <a:ext cx="13639800" cy="45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3200" b="1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ALYVIA ZOROYA, BRENDAN LAN, &amp; NATALIE DONATO</a:t>
            </a:r>
          </a:p>
        </p:txBody>
      </p:sp>
    </p:spTree>
    <p:extLst>
      <p:ext uri="{BB962C8B-B14F-4D97-AF65-F5344CB8AC3E}">
        <p14:creationId xmlns:p14="http://schemas.microsoft.com/office/powerpoint/2010/main" val="5042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Colorful Sound Audio Equalizer Bars Visualization Stock Vector (Royalty  Free) 2714539535 | Shutterstock">
            <a:extLst>
              <a:ext uri="{FF2B5EF4-FFF2-40B4-BE49-F238E27FC236}">
                <a16:creationId xmlns:a16="http://schemas.microsoft.com/office/drawing/2014/main" id="{128A81B1-6913-5658-6192-E1645D397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3400" y="4914900"/>
            <a:ext cx="18438223" cy="8840244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5638800" y="2503753"/>
            <a:ext cx="1752600" cy="9878747"/>
            <a:chOff x="0" y="0"/>
            <a:chExt cx="368852" cy="1710138"/>
          </a:xfrm>
          <a:gradFill>
            <a:gsLst>
              <a:gs pos="50800">
                <a:srgbClr val="0F88C5"/>
              </a:gs>
              <a:gs pos="0">
                <a:srgbClr val="BA2488"/>
              </a:gs>
              <a:gs pos="100000">
                <a:srgbClr val="0E5496"/>
              </a:gs>
            </a:gsLst>
            <a:lin ang="5400000" scaled="1"/>
          </a:gra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368852" cy="1710137"/>
            </a:xfrm>
            <a:custGeom>
              <a:avLst/>
              <a:gdLst/>
              <a:ahLst/>
              <a:cxnLst/>
              <a:rect l="l" t="t" r="r" b="b"/>
              <a:pathLst>
                <a:path w="368852" h="1710137">
                  <a:moveTo>
                    <a:pt x="0" y="0"/>
                  </a:moveTo>
                  <a:lnTo>
                    <a:pt x="368852" y="0"/>
                  </a:lnTo>
                  <a:lnTo>
                    <a:pt x="368852" y="1710137"/>
                  </a:lnTo>
                  <a:lnTo>
                    <a:pt x="0" y="1710137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368852" cy="172918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953000" y="506249"/>
            <a:ext cx="7416941" cy="168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sz="9981" b="1" spc="978">
                <a:solidFill>
                  <a:schemeClr val="bg1"/>
                </a:solidFill>
                <a:latin typeface="Oswald Bold"/>
                <a:ea typeface="Oswald Bold"/>
                <a:cs typeface="Oswald Bold"/>
                <a:sym typeface="Oswald Bold"/>
              </a:rPr>
              <a:t>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6490" y="2827182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b="1">
                <a:solidFill>
                  <a:schemeClr val="bg1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46490" y="3652020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b="1">
                <a:solidFill>
                  <a:schemeClr val="bg1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46490" y="4476858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b="1">
                <a:solidFill>
                  <a:schemeClr val="bg1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46490" y="5301696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b="1">
                <a:solidFill>
                  <a:schemeClr val="bg1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66091" y="6126534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b="1">
                <a:solidFill>
                  <a:schemeClr val="bg1"/>
                </a:solidFill>
                <a:latin typeface="Oswald Bold"/>
                <a:ea typeface="Oswald Bold"/>
                <a:cs typeface="Oswald Bold"/>
                <a:sym typeface="Oswald Bold"/>
              </a:rPr>
              <a:t>05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44123" y="2920393"/>
            <a:ext cx="5790503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b="1" spc="247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WHAT IS </a:t>
            </a:r>
            <a:r>
              <a:rPr lang="en-US" sz="2524" b="1" i="1" spc="247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MUSIC</a:t>
            </a:r>
            <a:r>
              <a:rPr lang="en-US" sz="2524" b="1" spc="247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44123" y="3744748"/>
            <a:ext cx="6076629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b="1" spc="247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RHYTHM AND PITCH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44123" y="4569103"/>
            <a:ext cx="5790503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3"/>
              </a:lnSpc>
              <a:spcBef>
                <a:spcPct val="0"/>
              </a:spcBef>
            </a:pPr>
            <a:r>
              <a:rPr lang="en-US" sz="2524" b="1" spc="247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TEST YOUR SKILLS!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44123" y="6187074"/>
            <a:ext cx="6076629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3"/>
              </a:lnSpc>
              <a:spcBef>
                <a:spcPct val="0"/>
              </a:spcBef>
            </a:pPr>
            <a:r>
              <a:rPr lang="en-US" sz="2524" b="1" spc="247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PAPER DISCUSSION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44123" y="5362236"/>
            <a:ext cx="5790503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3"/>
              </a:lnSpc>
              <a:spcBef>
                <a:spcPct val="0"/>
              </a:spcBef>
            </a:pPr>
            <a:r>
              <a:rPr lang="en-US" sz="2524" b="1" spc="247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DATA ANALYSIS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BFFB1D9-A8AB-A5A2-5F1C-945597F0F8AC}"/>
              </a:ext>
            </a:extLst>
          </p:cNvPr>
          <p:cNvCxnSpPr>
            <a:cxnSpLocks/>
          </p:cNvCxnSpPr>
          <p:nvPr/>
        </p:nvCxnSpPr>
        <p:spPr>
          <a:xfrm>
            <a:off x="5486400" y="7810500"/>
            <a:ext cx="19050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534893A-9A27-DD7D-CECF-F47676201BBA}"/>
              </a:ext>
            </a:extLst>
          </p:cNvPr>
          <p:cNvCxnSpPr>
            <a:cxnSpLocks/>
          </p:cNvCxnSpPr>
          <p:nvPr/>
        </p:nvCxnSpPr>
        <p:spPr>
          <a:xfrm>
            <a:off x="5638800" y="80772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B6A8B7-23E4-B414-27A3-5A034890C6E2}"/>
              </a:ext>
            </a:extLst>
          </p:cNvPr>
          <p:cNvCxnSpPr>
            <a:cxnSpLocks/>
          </p:cNvCxnSpPr>
          <p:nvPr/>
        </p:nvCxnSpPr>
        <p:spPr>
          <a:xfrm>
            <a:off x="5638800" y="82677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148CCC8-AB41-083D-3300-DC7DF97F8A78}"/>
              </a:ext>
            </a:extLst>
          </p:cNvPr>
          <p:cNvCxnSpPr>
            <a:cxnSpLocks/>
          </p:cNvCxnSpPr>
          <p:nvPr/>
        </p:nvCxnSpPr>
        <p:spPr>
          <a:xfrm>
            <a:off x="5638800" y="84963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E073E16-9303-B2BA-F0AA-441C429FA543}"/>
              </a:ext>
            </a:extLst>
          </p:cNvPr>
          <p:cNvCxnSpPr>
            <a:cxnSpLocks/>
          </p:cNvCxnSpPr>
          <p:nvPr/>
        </p:nvCxnSpPr>
        <p:spPr>
          <a:xfrm>
            <a:off x="5638800" y="86868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159D47B-729A-4191-28A4-295EBC153086}"/>
              </a:ext>
            </a:extLst>
          </p:cNvPr>
          <p:cNvCxnSpPr>
            <a:cxnSpLocks/>
          </p:cNvCxnSpPr>
          <p:nvPr/>
        </p:nvCxnSpPr>
        <p:spPr>
          <a:xfrm>
            <a:off x="5638800" y="88773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1215445-5B73-F352-C993-CE2C50F59C0F}"/>
              </a:ext>
            </a:extLst>
          </p:cNvPr>
          <p:cNvCxnSpPr>
            <a:cxnSpLocks/>
          </p:cNvCxnSpPr>
          <p:nvPr/>
        </p:nvCxnSpPr>
        <p:spPr>
          <a:xfrm>
            <a:off x="5638800" y="90678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DE49EFD-3106-7F2E-F7C7-2E93439B194F}"/>
              </a:ext>
            </a:extLst>
          </p:cNvPr>
          <p:cNvCxnSpPr>
            <a:cxnSpLocks/>
          </p:cNvCxnSpPr>
          <p:nvPr/>
        </p:nvCxnSpPr>
        <p:spPr>
          <a:xfrm>
            <a:off x="5638800" y="92583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5376975-E78E-4F1A-A684-88E6417B9DBD}"/>
              </a:ext>
            </a:extLst>
          </p:cNvPr>
          <p:cNvCxnSpPr>
            <a:cxnSpLocks/>
          </p:cNvCxnSpPr>
          <p:nvPr/>
        </p:nvCxnSpPr>
        <p:spPr>
          <a:xfrm>
            <a:off x="5638800" y="94869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C70EBCE-40C8-65F2-50DB-1291184433AC}"/>
              </a:ext>
            </a:extLst>
          </p:cNvPr>
          <p:cNvCxnSpPr>
            <a:cxnSpLocks/>
          </p:cNvCxnSpPr>
          <p:nvPr/>
        </p:nvCxnSpPr>
        <p:spPr>
          <a:xfrm>
            <a:off x="5638800" y="96774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863A949-A7F8-CD5E-6DBD-108D6E9FEAD6}"/>
              </a:ext>
            </a:extLst>
          </p:cNvPr>
          <p:cNvCxnSpPr>
            <a:cxnSpLocks/>
          </p:cNvCxnSpPr>
          <p:nvPr/>
        </p:nvCxnSpPr>
        <p:spPr>
          <a:xfrm>
            <a:off x="5638800" y="98679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1C65C6-8BF4-4A2F-00CE-A6A5263699F1}"/>
              </a:ext>
            </a:extLst>
          </p:cNvPr>
          <p:cNvCxnSpPr>
            <a:cxnSpLocks/>
          </p:cNvCxnSpPr>
          <p:nvPr/>
        </p:nvCxnSpPr>
        <p:spPr>
          <a:xfrm>
            <a:off x="5638800" y="98679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2E1A27D-6DA8-5FF1-93CD-3FA3F348825E}"/>
              </a:ext>
            </a:extLst>
          </p:cNvPr>
          <p:cNvCxnSpPr>
            <a:cxnSpLocks/>
          </p:cNvCxnSpPr>
          <p:nvPr/>
        </p:nvCxnSpPr>
        <p:spPr>
          <a:xfrm>
            <a:off x="5638800" y="100584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9B2A154-73BF-5911-8F78-F4058048202D}"/>
              </a:ext>
            </a:extLst>
          </p:cNvPr>
          <p:cNvCxnSpPr>
            <a:cxnSpLocks/>
          </p:cNvCxnSpPr>
          <p:nvPr/>
        </p:nvCxnSpPr>
        <p:spPr>
          <a:xfrm>
            <a:off x="5638800" y="102489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629D465-E7A2-3AFF-BF74-E414F7C9D70B}"/>
              </a:ext>
            </a:extLst>
          </p:cNvPr>
          <p:cNvCxnSpPr>
            <a:cxnSpLocks/>
          </p:cNvCxnSpPr>
          <p:nvPr/>
        </p:nvCxnSpPr>
        <p:spPr>
          <a:xfrm>
            <a:off x="5638800" y="104775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8811E66-202A-6FCB-33F8-45602AF8786A}"/>
              </a:ext>
            </a:extLst>
          </p:cNvPr>
          <p:cNvCxnSpPr>
            <a:cxnSpLocks/>
          </p:cNvCxnSpPr>
          <p:nvPr/>
        </p:nvCxnSpPr>
        <p:spPr>
          <a:xfrm>
            <a:off x="5638800" y="106680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F2092D7-4F7C-59EB-EFC3-0ADB28DE6509}"/>
              </a:ext>
            </a:extLst>
          </p:cNvPr>
          <p:cNvCxnSpPr>
            <a:cxnSpLocks/>
          </p:cNvCxnSpPr>
          <p:nvPr/>
        </p:nvCxnSpPr>
        <p:spPr>
          <a:xfrm>
            <a:off x="5638800" y="108585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43D6315-9AD3-DBD3-AEA7-ED333B8CE03E}"/>
              </a:ext>
            </a:extLst>
          </p:cNvPr>
          <p:cNvCxnSpPr>
            <a:cxnSpLocks/>
          </p:cNvCxnSpPr>
          <p:nvPr/>
        </p:nvCxnSpPr>
        <p:spPr>
          <a:xfrm>
            <a:off x="5638800" y="108585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288F477-F2E0-7510-8F5E-BE89513CB56B}"/>
              </a:ext>
            </a:extLst>
          </p:cNvPr>
          <p:cNvCxnSpPr>
            <a:cxnSpLocks/>
          </p:cNvCxnSpPr>
          <p:nvPr/>
        </p:nvCxnSpPr>
        <p:spPr>
          <a:xfrm>
            <a:off x="5638800" y="110490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585EB79-57C1-0FDB-F8D2-F4E25F8BF316}"/>
              </a:ext>
            </a:extLst>
          </p:cNvPr>
          <p:cNvCxnSpPr>
            <a:cxnSpLocks/>
          </p:cNvCxnSpPr>
          <p:nvPr/>
        </p:nvCxnSpPr>
        <p:spPr>
          <a:xfrm>
            <a:off x="5638800" y="112395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ABF7142-6057-F91F-52DD-063F486B0B05}"/>
              </a:ext>
            </a:extLst>
          </p:cNvPr>
          <p:cNvCxnSpPr>
            <a:cxnSpLocks/>
          </p:cNvCxnSpPr>
          <p:nvPr/>
        </p:nvCxnSpPr>
        <p:spPr>
          <a:xfrm>
            <a:off x="5638800" y="114681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AF4247F-50D3-C2CD-0150-FDA9A8B3F8EA}"/>
              </a:ext>
            </a:extLst>
          </p:cNvPr>
          <p:cNvCxnSpPr>
            <a:cxnSpLocks/>
          </p:cNvCxnSpPr>
          <p:nvPr/>
        </p:nvCxnSpPr>
        <p:spPr>
          <a:xfrm>
            <a:off x="5638800" y="116586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3F284EC-8847-EFB3-E67C-6B0848D8FD00}"/>
              </a:ext>
            </a:extLst>
          </p:cNvPr>
          <p:cNvCxnSpPr>
            <a:cxnSpLocks/>
          </p:cNvCxnSpPr>
          <p:nvPr/>
        </p:nvCxnSpPr>
        <p:spPr>
          <a:xfrm>
            <a:off x="5638800" y="11849100"/>
            <a:ext cx="17526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B349FE7-47F9-D69F-5A48-B04583B407BD}"/>
              </a:ext>
            </a:extLst>
          </p:cNvPr>
          <p:cNvCxnSpPr>
            <a:cxnSpLocks/>
          </p:cNvCxnSpPr>
          <p:nvPr/>
        </p:nvCxnSpPr>
        <p:spPr>
          <a:xfrm>
            <a:off x="5562600" y="7505700"/>
            <a:ext cx="19050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90F3A32-A40A-3870-AFE3-159CF180F25B}"/>
              </a:ext>
            </a:extLst>
          </p:cNvPr>
          <p:cNvCxnSpPr>
            <a:cxnSpLocks/>
          </p:cNvCxnSpPr>
          <p:nvPr/>
        </p:nvCxnSpPr>
        <p:spPr>
          <a:xfrm>
            <a:off x="5562600" y="7048500"/>
            <a:ext cx="1905000" cy="0"/>
          </a:xfrm>
          <a:prstGeom prst="line">
            <a:avLst/>
          </a:prstGeom>
          <a:ln w="28575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">
            <a:extLst>
              <a:ext uri="{FF2B5EF4-FFF2-40B4-BE49-F238E27FC236}">
                <a16:creationId xmlns:a16="http://schemas.microsoft.com/office/drawing/2014/main" id="{FB7AA00D-A04D-EADE-FD6E-D7263C3C6B42}"/>
              </a:ext>
            </a:extLst>
          </p:cNvPr>
          <p:cNvSpPr txBox="1"/>
          <p:nvPr/>
        </p:nvSpPr>
        <p:spPr>
          <a:xfrm>
            <a:off x="152400" y="1714500"/>
            <a:ext cx="18745200" cy="5822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84"/>
              </a:lnSpc>
            </a:pPr>
            <a:r>
              <a:rPr lang="en-US" sz="11400" b="1" spc="161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WHAT COUNTS </a:t>
            </a:r>
          </a:p>
          <a:p>
            <a:pPr algn="ctr">
              <a:lnSpc>
                <a:spcPts val="22684"/>
              </a:lnSpc>
            </a:pPr>
            <a:r>
              <a:rPr lang="en-US" sz="23600" b="1" spc="161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AS </a:t>
            </a:r>
            <a:r>
              <a:rPr lang="en-US" sz="23600" b="1" u="sng" spc="161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MUSIC</a:t>
            </a:r>
            <a:r>
              <a:rPr lang="en-US" sz="23600" b="1" spc="161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?</a:t>
            </a:r>
            <a:endParaRPr lang="en-US" sz="16437" b="1" spc="1610">
              <a:solidFill>
                <a:srgbClr val="231F20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FEA09F-CDBC-8AC8-788D-6D24E189FB6B}"/>
              </a:ext>
            </a:extLst>
          </p:cNvPr>
          <p:cNvSpPr txBox="1"/>
          <p:nvPr/>
        </p:nvSpPr>
        <p:spPr>
          <a:xfrm>
            <a:off x="6206575" y="4338083"/>
            <a:ext cx="9010649" cy="2844308"/>
          </a:xfrm>
          <a:custGeom>
            <a:avLst/>
            <a:gdLst/>
            <a:ahLst/>
            <a:cxnLst/>
            <a:rect l="l" t="t" r="r" b="b"/>
            <a:pathLst>
              <a:path w="9010649" h="2844308">
                <a:moveTo>
                  <a:pt x="0" y="2691908"/>
                </a:moveTo>
                <a:lnTo>
                  <a:pt x="2252662" y="2691908"/>
                </a:lnTo>
                <a:lnTo>
                  <a:pt x="4505325" y="2691908"/>
                </a:lnTo>
                <a:lnTo>
                  <a:pt x="6757987" y="2691908"/>
                </a:lnTo>
                <a:lnTo>
                  <a:pt x="9010649" y="2691908"/>
                </a:lnTo>
                <a:lnTo>
                  <a:pt x="9010649" y="2844308"/>
                </a:lnTo>
                <a:lnTo>
                  <a:pt x="6757987" y="2844308"/>
                </a:lnTo>
                <a:lnTo>
                  <a:pt x="4505325" y="2844308"/>
                </a:lnTo>
                <a:lnTo>
                  <a:pt x="2252662" y="2844308"/>
                </a:lnTo>
                <a:lnTo>
                  <a:pt x="0" y="2844308"/>
                </a:lnTo>
                <a:close/>
                <a:moveTo>
                  <a:pt x="6202822" y="33004"/>
                </a:moveTo>
                <a:lnTo>
                  <a:pt x="6739889" y="33004"/>
                </a:lnTo>
                <a:lnTo>
                  <a:pt x="6739889" y="2463308"/>
                </a:lnTo>
                <a:lnTo>
                  <a:pt x="6202822" y="2463308"/>
                </a:lnTo>
                <a:close/>
                <a:moveTo>
                  <a:pt x="2476595" y="33004"/>
                </a:moveTo>
                <a:lnTo>
                  <a:pt x="3007662" y="33004"/>
                </a:lnTo>
                <a:lnTo>
                  <a:pt x="3007662" y="1791224"/>
                </a:lnTo>
                <a:cubicBezTo>
                  <a:pt x="3007662" y="1889237"/>
                  <a:pt x="3020163" y="1967246"/>
                  <a:pt x="3045166" y="2025253"/>
                </a:cubicBezTo>
                <a:cubicBezTo>
                  <a:pt x="3070169" y="2083261"/>
                  <a:pt x="3120676" y="2112264"/>
                  <a:pt x="3196685" y="2112264"/>
                </a:cubicBezTo>
                <a:cubicBezTo>
                  <a:pt x="3272695" y="2112264"/>
                  <a:pt x="3322701" y="2083261"/>
                  <a:pt x="3346704" y="2025253"/>
                </a:cubicBezTo>
                <a:cubicBezTo>
                  <a:pt x="3370707" y="1967246"/>
                  <a:pt x="3382709" y="1889237"/>
                  <a:pt x="3382709" y="1791224"/>
                </a:cubicBezTo>
                <a:lnTo>
                  <a:pt x="3382709" y="33004"/>
                </a:lnTo>
                <a:lnTo>
                  <a:pt x="3916775" y="33004"/>
                </a:lnTo>
                <a:lnTo>
                  <a:pt x="3916775" y="1710214"/>
                </a:lnTo>
                <a:cubicBezTo>
                  <a:pt x="3916775" y="1888236"/>
                  <a:pt x="3894772" y="2034755"/>
                  <a:pt x="3850767" y="2149769"/>
                </a:cubicBezTo>
                <a:cubicBezTo>
                  <a:pt x="3806761" y="2264783"/>
                  <a:pt x="3732252" y="2351794"/>
                  <a:pt x="3627239" y="2410802"/>
                </a:cubicBezTo>
                <a:cubicBezTo>
                  <a:pt x="3522225" y="2469809"/>
                  <a:pt x="3378707" y="2499313"/>
                  <a:pt x="3196685" y="2499313"/>
                </a:cubicBezTo>
                <a:cubicBezTo>
                  <a:pt x="3014662" y="2499313"/>
                  <a:pt x="2870644" y="2469809"/>
                  <a:pt x="2764631" y="2410802"/>
                </a:cubicBezTo>
                <a:cubicBezTo>
                  <a:pt x="2658618" y="2351794"/>
                  <a:pt x="2584108" y="2264783"/>
                  <a:pt x="2541103" y="2149769"/>
                </a:cubicBezTo>
                <a:cubicBezTo>
                  <a:pt x="2498097" y="2034755"/>
                  <a:pt x="2476595" y="1888236"/>
                  <a:pt x="2476595" y="1710214"/>
                </a:cubicBezTo>
                <a:close/>
                <a:moveTo>
                  <a:pt x="213026" y="33004"/>
                </a:moveTo>
                <a:lnTo>
                  <a:pt x="789099" y="33004"/>
                </a:lnTo>
                <a:lnTo>
                  <a:pt x="1056132" y="1446181"/>
                </a:lnTo>
                <a:lnTo>
                  <a:pt x="1344168" y="33004"/>
                </a:lnTo>
                <a:lnTo>
                  <a:pt x="1899237" y="33004"/>
                </a:lnTo>
                <a:lnTo>
                  <a:pt x="1941242" y="2463308"/>
                </a:lnTo>
                <a:lnTo>
                  <a:pt x="1560195" y="2463308"/>
                </a:lnTo>
                <a:lnTo>
                  <a:pt x="1515189" y="846106"/>
                </a:lnTo>
                <a:lnTo>
                  <a:pt x="1233154" y="2463308"/>
                </a:lnTo>
                <a:lnTo>
                  <a:pt x="894112" y="2463308"/>
                </a:lnTo>
                <a:lnTo>
                  <a:pt x="594074" y="834105"/>
                </a:lnTo>
                <a:lnTo>
                  <a:pt x="558070" y="2463308"/>
                </a:lnTo>
                <a:lnTo>
                  <a:pt x="171021" y="2463308"/>
                </a:lnTo>
                <a:close/>
                <a:moveTo>
                  <a:pt x="8000809" y="0"/>
                </a:moveTo>
                <a:cubicBezTo>
                  <a:pt x="8254840" y="0"/>
                  <a:pt x="8434863" y="61007"/>
                  <a:pt x="8540877" y="183023"/>
                </a:cubicBezTo>
                <a:cubicBezTo>
                  <a:pt x="8646890" y="305039"/>
                  <a:pt x="8699896" y="478060"/>
                  <a:pt x="8699896" y="702088"/>
                </a:cubicBezTo>
                <a:lnTo>
                  <a:pt x="8699896" y="912114"/>
                </a:lnTo>
                <a:lnTo>
                  <a:pt x="8174831" y="912114"/>
                </a:lnTo>
                <a:lnTo>
                  <a:pt x="8174831" y="669084"/>
                </a:lnTo>
                <a:cubicBezTo>
                  <a:pt x="8174831" y="575072"/>
                  <a:pt x="8164829" y="503063"/>
                  <a:pt x="8144827" y="453057"/>
                </a:cubicBezTo>
                <a:cubicBezTo>
                  <a:pt x="8124825" y="403051"/>
                  <a:pt x="8076819" y="378048"/>
                  <a:pt x="8000809" y="378048"/>
                </a:cubicBezTo>
                <a:cubicBezTo>
                  <a:pt x="7924799" y="378048"/>
                  <a:pt x="7874793" y="404551"/>
                  <a:pt x="7850791" y="457558"/>
                </a:cubicBezTo>
                <a:cubicBezTo>
                  <a:pt x="7826787" y="510564"/>
                  <a:pt x="7814785" y="584073"/>
                  <a:pt x="7814785" y="678085"/>
                </a:cubicBezTo>
                <a:lnTo>
                  <a:pt x="7814785" y="1821228"/>
                </a:lnTo>
                <a:cubicBezTo>
                  <a:pt x="7814785" y="1917240"/>
                  <a:pt x="7827287" y="1990749"/>
                  <a:pt x="7852291" y="2041755"/>
                </a:cubicBezTo>
                <a:cubicBezTo>
                  <a:pt x="7877293" y="2092762"/>
                  <a:pt x="7926800" y="2118265"/>
                  <a:pt x="8000809" y="2118265"/>
                </a:cubicBezTo>
                <a:cubicBezTo>
                  <a:pt x="8074818" y="2118265"/>
                  <a:pt x="8122325" y="2092762"/>
                  <a:pt x="8143327" y="2041755"/>
                </a:cubicBezTo>
                <a:cubicBezTo>
                  <a:pt x="8164329" y="1990749"/>
                  <a:pt x="8174831" y="1917240"/>
                  <a:pt x="8174831" y="1821228"/>
                </a:cubicBezTo>
                <a:lnTo>
                  <a:pt x="8174831" y="1566196"/>
                </a:lnTo>
                <a:lnTo>
                  <a:pt x="8699896" y="1566196"/>
                </a:lnTo>
                <a:lnTo>
                  <a:pt x="8699896" y="1776222"/>
                </a:lnTo>
                <a:cubicBezTo>
                  <a:pt x="8699896" y="2004251"/>
                  <a:pt x="8646890" y="2181773"/>
                  <a:pt x="8540877" y="2308789"/>
                </a:cubicBezTo>
                <a:cubicBezTo>
                  <a:pt x="8434863" y="2435805"/>
                  <a:pt x="8254840" y="2499313"/>
                  <a:pt x="8000809" y="2499313"/>
                </a:cubicBezTo>
                <a:cubicBezTo>
                  <a:pt x="7736776" y="2499313"/>
                  <a:pt x="7549253" y="2429804"/>
                  <a:pt x="7438239" y="2290787"/>
                </a:cubicBezTo>
                <a:cubicBezTo>
                  <a:pt x="7327225" y="2151769"/>
                  <a:pt x="7271718" y="1951244"/>
                  <a:pt x="7271718" y="1689212"/>
                </a:cubicBezTo>
                <a:lnTo>
                  <a:pt x="7271718" y="813102"/>
                </a:lnTo>
                <a:cubicBezTo>
                  <a:pt x="7271718" y="545068"/>
                  <a:pt x="7326725" y="342543"/>
                  <a:pt x="7436739" y="205526"/>
                </a:cubicBezTo>
                <a:cubicBezTo>
                  <a:pt x="7546752" y="68508"/>
                  <a:pt x="7734775" y="0"/>
                  <a:pt x="8000809" y="0"/>
                </a:cubicBezTo>
                <a:close/>
                <a:moveTo>
                  <a:pt x="5086825" y="0"/>
                </a:moveTo>
                <a:cubicBezTo>
                  <a:pt x="5316855" y="0"/>
                  <a:pt x="5473374" y="67008"/>
                  <a:pt x="5556385" y="201025"/>
                </a:cubicBezTo>
                <a:cubicBezTo>
                  <a:pt x="5639395" y="335042"/>
                  <a:pt x="5683900" y="498063"/>
                  <a:pt x="5689901" y="690087"/>
                </a:cubicBezTo>
                <a:lnTo>
                  <a:pt x="5227843" y="747094"/>
                </a:lnTo>
                <a:cubicBezTo>
                  <a:pt x="5223843" y="621078"/>
                  <a:pt x="5212341" y="530567"/>
                  <a:pt x="5193339" y="475560"/>
                </a:cubicBezTo>
                <a:cubicBezTo>
                  <a:pt x="5174337" y="420553"/>
                  <a:pt x="5132831" y="393049"/>
                  <a:pt x="5068823" y="393049"/>
                </a:cubicBezTo>
                <a:cubicBezTo>
                  <a:pt x="5022817" y="393049"/>
                  <a:pt x="4987313" y="412552"/>
                  <a:pt x="4962310" y="451557"/>
                </a:cubicBezTo>
                <a:cubicBezTo>
                  <a:pt x="4937307" y="490562"/>
                  <a:pt x="4924805" y="534067"/>
                  <a:pt x="4924805" y="582073"/>
                </a:cubicBezTo>
                <a:cubicBezTo>
                  <a:pt x="4924805" y="664083"/>
                  <a:pt x="4943307" y="733092"/>
                  <a:pt x="4980312" y="789099"/>
                </a:cubicBezTo>
                <a:cubicBezTo>
                  <a:pt x="5017317" y="845106"/>
                  <a:pt x="5076825" y="909114"/>
                  <a:pt x="5158835" y="981123"/>
                </a:cubicBezTo>
                <a:lnTo>
                  <a:pt x="5359860" y="1158145"/>
                </a:lnTo>
                <a:cubicBezTo>
                  <a:pt x="5479875" y="1260158"/>
                  <a:pt x="5572887" y="1368171"/>
                  <a:pt x="5638895" y="1482186"/>
                </a:cubicBezTo>
                <a:cubicBezTo>
                  <a:pt x="5704903" y="1596200"/>
                  <a:pt x="5737907" y="1731217"/>
                  <a:pt x="5737907" y="1887236"/>
                </a:cubicBezTo>
                <a:cubicBezTo>
                  <a:pt x="5737907" y="2001250"/>
                  <a:pt x="5711403" y="2104763"/>
                  <a:pt x="5658397" y="2197775"/>
                </a:cubicBezTo>
                <a:cubicBezTo>
                  <a:pt x="5605391" y="2290787"/>
                  <a:pt x="5530881" y="2364296"/>
                  <a:pt x="5434869" y="2418302"/>
                </a:cubicBezTo>
                <a:cubicBezTo>
                  <a:pt x="5338857" y="2472309"/>
                  <a:pt x="5227843" y="2499313"/>
                  <a:pt x="5101827" y="2499313"/>
                </a:cubicBezTo>
                <a:cubicBezTo>
                  <a:pt x="4869799" y="2499313"/>
                  <a:pt x="4697277" y="2437805"/>
                  <a:pt x="4584263" y="2314790"/>
                </a:cubicBezTo>
                <a:cubicBezTo>
                  <a:pt x="4471249" y="2191774"/>
                  <a:pt x="4410741" y="1996250"/>
                  <a:pt x="4402741" y="1728216"/>
                </a:cubicBezTo>
                <a:lnTo>
                  <a:pt x="4861798" y="1659208"/>
                </a:lnTo>
                <a:cubicBezTo>
                  <a:pt x="4863798" y="1813227"/>
                  <a:pt x="4882299" y="1923741"/>
                  <a:pt x="4917305" y="1990749"/>
                </a:cubicBezTo>
                <a:cubicBezTo>
                  <a:pt x="4952309" y="2057758"/>
                  <a:pt x="5004815" y="2091262"/>
                  <a:pt x="5074824" y="2091262"/>
                </a:cubicBezTo>
                <a:cubicBezTo>
                  <a:pt x="5164835" y="2091262"/>
                  <a:pt x="5209841" y="2032254"/>
                  <a:pt x="5209841" y="1914240"/>
                </a:cubicBezTo>
                <a:cubicBezTo>
                  <a:pt x="5209841" y="1820228"/>
                  <a:pt x="5188338" y="1739218"/>
                  <a:pt x="5145333" y="1671209"/>
                </a:cubicBezTo>
                <a:cubicBezTo>
                  <a:pt x="5102327" y="1603201"/>
                  <a:pt x="5034819" y="1530192"/>
                  <a:pt x="4942807" y="1452182"/>
                </a:cubicBezTo>
                <a:lnTo>
                  <a:pt x="4732781" y="1269159"/>
                </a:lnTo>
                <a:cubicBezTo>
                  <a:pt x="4628769" y="1181148"/>
                  <a:pt x="4548259" y="1087636"/>
                  <a:pt x="4491251" y="988624"/>
                </a:cubicBezTo>
                <a:cubicBezTo>
                  <a:pt x="4434245" y="889612"/>
                  <a:pt x="4405741" y="772097"/>
                  <a:pt x="4405741" y="636080"/>
                </a:cubicBezTo>
                <a:cubicBezTo>
                  <a:pt x="4405741" y="432054"/>
                  <a:pt x="4466248" y="275034"/>
                  <a:pt x="4587263" y="165021"/>
                </a:cubicBezTo>
                <a:cubicBezTo>
                  <a:pt x="4708279" y="55007"/>
                  <a:pt x="4874799" y="0"/>
                  <a:pt x="5086825" y="0"/>
                </a:cubicBezTo>
                <a:close/>
              </a:path>
            </a:pathLst>
          </a:custGeom>
          <a:gradFill>
            <a:gsLst>
              <a:gs pos="31600">
                <a:schemeClr val="accent6">
                  <a:lumMod val="40000"/>
                  <a:lumOff val="60000"/>
                </a:schemeClr>
              </a:gs>
              <a:gs pos="1000">
                <a:schemeClr val="accent5">
                  <a:lumMod val="60000"/>
                  <a:lumOff val="40000"/>
                </a:schemeClr>
              </a:gs>
              <a:gs pos="61503">
                <a:srgbClr val="EDC2B7"/>
              </a:gs>
              <a:gs pos="75000">
                <a:schemeClr val="accent2">
                  <a:lumMod val="40000"/>
                  <a:lumOff val="6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3000000" scaled="0"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22684"/>
              </a:lnSpc>
            </a:pPr>
            <a:endParaRPr lang="en-US" sz="23600" b="1" u="sng" spc="1610">
              <a:solidFill>
                <a:srgbClr val="FFFFFF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</p:spTree>
    <p:extLst>
      <p:ext uri="{BB962C8B-B14F-4D97-AF65-F5344CB8AC3E}">
        <p14:creationId xmlns:p14="http://schemas.microsoft.com/office/powerpoint/2010/main" val="1549713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60CE3-3E89-16F7-3624-5D98EAC81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076A854-1323-6A13-8C01-010DD0416C37}"/>
              </a:ext>
            </a:extLst>
          </p:cNvPr>
          <p:cNvSpPr/>
          <p:nvPr/>
        </p:nvSpPr>
        <p:spPr>
          <a:xfrm>
            <a:off x="12192000" y="0"/>
            <a:ext cx="6096000" cy="10287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 descr="Vaporwave Aesthetics Glitch Graphics Abstract Art Background Stock  Illustration - Download Image Now - iStock">
            <a:extLst>
              <a:ext uri="{FF2B5EF4-FFF2-40B4-BE49-F238E27FC236}">
                <a16:creationId xmlns:a16="http://schemas.microsoft.com/office/drawing/2014/main" id="{74ED41CF-D389-D165-A169-D4FF4F8C2B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rcRect r="60409"/>
          <a:stretch>
            <a:fillRect/>
          </a:stretch>
        </p:blipFill>
        <p:spPr>
          <a:xfrm>
            <a:off x="12143481" y="-72764"/>
            <a:ext cx="6158353" cy="103597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2447E1C-6A46-5A86-C472-6FCA9EC27A02}"/>
              </a:ext>
            </a:extLst>
          </p:cNvPr>
          <p:cNvSpPr/>
          <p:nvPr/>
        </p:nvSpPr>
        <p:spPr>
          <a:xfrm>
            <a:off x="0" y="0"/>
            <a:ext cx="6096000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tunning Audio Visualizers (Free and Paid) | Motion Array">
            <a:extLst>
              <a:ext uri="{FF2B5EF4-FFF2-40B4-BE49-F238E27FC236}">
                <a16:creationId xmlns:a16="http://schemas.microsoft.com/office/drawing/2014/main" id="{61991626-BA7A-3121-1386-20D94BB8C9C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1000"/>
          </a:blip>
          <a:srcRect l="23586" r="47964"/>
          <a:stretch>
            <a:fillRect/>
          </a:stretch>
        </p:blipFill>
        <p:spPr>
          <a:xfrm>
            <a:off x="0" y="-72764"/>
            <a:ext cx="6158353" cy="104740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AD9CCD1-38D2-F94B-2FBA-2E4D7C092C79}"/>
              </a:ext>
            </a:extLst>
          </p:cNvPr>
          <p:cNvSpPr/>
          <p:nvPr/>
        </p:nvSpPr>
        <p:spPr>
          <a:xfrm>
            <a:off x="6077212" y="0"/>
            <a:ext cx="6114787" cy="10287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2">
                  <a:lumMod val="5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White Crackle Texture Overlay – Royalty-Free Vector | VectorStock">
            <a:extLst>
              <a:ext uri="{FF2B5EF4-FFF2-40B4-BE49-F238E27FC236}">
                <a16:creationId xmlns:a16="http://schemas.microsoft.com/office/drawing/2014/main" id="{BE935A29-519F-9476-8BD3-A72AA051344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3000"/>
          </a:blip>
          <a:srcRect l="-262" t="-119" r="63" b="14096"/>
          <a:stretch>
            <a:fillRect/>
          </a:stretch>
        </p:blipFill>
        <p:spPr>
          <a:xfrm rot="5400000">
            <a:off x="3054244" y="2265215"/>
            <a:ext cx="12175336" cy="6062594"/>
          </a:xfrm>
          <a:prstGeom prst="rect">
            <a:avLst/>
          </a:prstGeom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id="{2C5B97C3-7536-78DD-3D65-8299D5480BC6}"/>
              </a:ext>
            </a:extLst>
          </p:cNvPr>
          <p:cNvSpPr txBox="1"/>
          <p:nvPr/>
        </p:nvSpPr>
        <p:spPr>
          <a:xfrm>
            <a:off x="5426134" y="99121"/>
            <a:ext cx="7416941" cy="1615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sz="8000" b="1" spc="978">
                <a:solidFill>
                  <a:schemeClr val="bg1"/>
                </a:solidFill>
                <a:latin typeface="Oswald Bold"/>
                <a:ea typeface="Oswald Bold"/>
                <a:cs typeface="Oswald Bold"/>
                <a:sym typeface="Oswald Bold"/>
              </a:rPr>
              <a:t>NATALIE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A6D1A812-7B41-A57F-25ED-5C287FCA9808}"/>
              </a:ext>
            </a:extLst>
          </p:cNvPr>
          <p:cNvSpPr txBox="1"/>
          <p:nvPr/>
        </p:nvSpPr>
        <p:spPr>
          <a:xfrm>
            <a:off x="-669866" y="85029"/>
            <a:ext cx="7416941" cy="1615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sz="8000" b="1" spc="978">
                <a:solidFill>
                  <a:schemeClr val="bg1"/>
                </a:solidFill>
                <a:latin typeface="Oswald Bold"/>
                <a:ea typeface="Oswald Bold"/>
                <a:cs typeface="Oswald Bold"/>
                <a:sym typeface="Oswald Bold"/>
              </a:rPr>
              <a:t>BRENDAN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7A59DB00-FD7E-9ECB-C055-5ACAC325E18D}"/>
              </a:ext>
            </a:extLst>
          </p:cNvPr>
          <p:cNvSpPr txBox="1"/>
          <p:nvPr/>
        </p:nvSpPr>
        <p:spPr>
          <a:xfrm>
            <a:off x="11480692" y="99120"/>
            <a:ext cx="7416941" cy="1615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sz="8000" b="1" spc="978">
                <a:solidFill>
                  <a:schemeClr val="bg1"/>
                </a:solidFill>
                <a:latin typeface="Oswald Bold"/>
                <a:ea typeface="Oswald Bold"/>
                <a:cs typeface="Oswald Bold"/>
                <a:sym typeface="Oswald Bold"/>
              </a:rPr>
              <a:t>LYV</a:t>
            </a:r>
          </a:p>
        </p:txBody>
      </p:sp>
      <p:pic>
        <p:nvPicPr>
          <p:cNvPr id="16" name="Picture 15" descr="File:My Chemical Romance logo.png - Wikimedia Commons">
            <a:extLst>
              <a:ext uri="{FF2B5EF4-FFF2-40B4-BE49-F238E27FC236}">
                <a16:creationId xmlns:a16="http://schemas.microsoft.com/office/drawing/2014/main" id="{7155729A-5966-2EA1-9AD6-32D659E4FE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4900" y="1639971"/>
            <a:ext cx="3563543" cy="2307129"/>
          </a:xfrm>
          <a:prstGeom prst="rect">
            <a:avLst/>
          </a:prstGeom>
        </p:spPr>
      </p:pic>
      <p:pic>
        <p:nvPicPr>
          <p:cNvPr id="17" name="Picture 16" descr="File:Twenty One Pilots type logo 2018.png - Wikimedia Commons">
            <a:extLst>
              <a:ext uri="{FF2B5EF4-FFF2-40B4-BE49-F238E27FC236}">
                <a16:creationId xmlns:a16="http://schemas.microsoft.com/office/drawing/2014/main" id="{608B74C7-02E4-8A9F-19B5-3E1E78B791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47231" y="5103018"/>
            <a:ext cx="4213687" cy="936375"/>
          </a:xfrm>
          <a:prstGeom prst="rect">
            <a:avLst/>
          </a:prstGeom>
        </p:spPr>
      </p:pic>
      <p:pic>
        <p:nvPicPr>
          <p:cNvPr id="19" name="Picture 18" descr="TAME IMPALA">
            <a:extLst>
              <a:ext uri="{FF2B5EF4-FFF2-40B4-BE49-F238E27FC236}">
                <a16:creationId xmlns:a16="http://schemas.microsoft.com/office/drawing/2014/main" id="{E9B630FD-30C8-96DB-BAF8-7FD11F804B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10289" y="4012398"/>
            <a:ext cx="2650021" cy="902502"/>
          </a:xfrm>
          <a:prstGeom prst="rect">
            <a:avLst/>
          </a:prstGeom>
        </p:spPr>
      </p:pic>
      <p:pic>
        <p:nvPicPr>
          <p:cNvPr id="21" name="Picture 20" descr="the Neighbourhood - Neighbourhood Logo, HD Png Download - kindpng">
            <a:extLst>
              <a:ext uri="{FF2B5EF4-FFF2-40B4-BE49-F238E27FC236}">
                <a16:creationId xmlns:a16="http://schemas.microsoft.com/office/drawing/2014/main" id="{76C21A2D-1632-1D12-D57E-984E36F762B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r="5215" b="7564"/>
          <a:stretch>
            <a:fillRect/>
          </a:stretch>
        </p:blipFill>
        <p:spPr>
          <a:xfrm>
            <a:off x="10210800" y="1850242"/>
            <a:ext cx="1389523" cy="1697016"/>
          </a:xfrm>
          <a:prstGeom prst="rect">
            <a:avLst/>
          </a:prstGeom>
        </p:spPr>
      </p:pic>
      <p:pic>
        <p:nvPicPr>
          <p:cNvPr id="22" name="Picture 21" descr="File:Linkin Park logo 2007.png - Wikimedia Commons">
            <a:extLst>
              <a:ext uri="{FF2B5EF4-FFF2-40B4-BE49-F238E27FC236}">
                <a16:creationId xmlns:a16="http://schemas.microsoft.com/office/drawing/2014/main" id="{9D5DBFE5-F465-0F6B-CED9-9BAB867A607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70697" y="6352758"/>
            <a:ext cx="2350220" cy="1615776"/>
          </a:xfrm>
          <a:prstGeom prst="rect">
            <a:avLst/>
          </a:prstGeom>
        </p:spPr>
      </p:pic>
      <p:pic>
        <p:nvPicPr>
          <p:cNvPr id="23" name="Picture 22" descr="Two Door Cinema Club">
            <a:extLst>
              <a:ext uri="{FF2B5EF4-FFF2-40B4-BE49-F238E27FC236}">
                <a16:creationId xmlns:a16="http://schemas.microsoft.com/office/drawing/2014/main" id="{CBF0B54B-477E-0439-5B1B-C508A53368D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29800" y="3877969"/>
            <a:ext cx="2073919" cy="1451743"/>
          </a:xfrm>
          <a:prstGeom prst="rect">
            <a:avLst/>
          </a:prstGeom>
        </p:spPr>
      </p:pic>
      <p:pic>
        <p:nvPicPr>
          <p:cNvPr id="27" name="Picture 26" descr="Gorillaz Logo PNG Transparent &amp; SVG Vector - Freebie Supply">
            <a:extLst>
              <a:ext uri="{FF2B5EF4-FFF2-40B4-BE49-F238E27FC236}">
                <a16:creationId xmlns:a16="http://schemas.microsoft.com/office/drawing/2014/main" id="{6200977D-3617-7AFF-E2FE-D67FE86DA93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67085" y="4946071"/>
            <a:ext cx="2506906" cy="25069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B3A0E37-40E8-CFCE-CEB9-41640A561F5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29045" b="22448"/>
          <a:stretch>
            <a:fillRect/>
          </a:stretch>
        </p:blipFill>
        <p:spPr>
          <a:xfrm>
            <a:off x="9473435" y="8329869"/>
            <a:ext cx="2234408" cy="990600"/>
          </a:xfrm>
          <a:prstGeom prst="rect">
            <a:avLst/>
          </a:prstGeom>
        </p:spPr>
      </p:pic>
      <p:pic>
        <p:nvPicPr>
          <p:cNvPr id="34" name="Picture 33" descr="Balu Brigada">
            <a:extLst>
              <a:ext uri="{FF2B5EF4-FFF2-40B4-BE49-F238E27FC236}">
                <a16:creationId xmlns:a16="http://schemas.microsoft.com/office/drawing/2014/main" id="{202AB307-2E1E-4588-4695-4A2EACB946B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24443" y="7086884"/>
            <a:ext cx="1932392" cy="876016"/>
          </a:xfrm>
          <a:prstGeom prst="rect">
            <a:avLst/>
          </a:prstGeom>
        </p:spPr>
      </p:pic>
      <p:pic>
        <p:nvPicPr>
          <p:cNvPr id="35" name="Picture 34" descr="File:Doja Cat logo 2014.png - Wikimedia Commons">
            <a:extLst>
              <a:ext uri="{FF2B5EF4-FFF2-40B4-BE49-F238E27FC236}">
                <a16:creationId xmlns:a16="http://schemas.microsoft.com/office/drawing/2014/main" id="{2E1D7EEC-E00D-3BAB-0544-CFFA9CFBE7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5509" y="8341528"/>
            <a:ext cx="2668492" cy="1449413"/>
          </a:xfrm>
          <a:prstGeom prst="rect">
            <a:avLst/>
          </a:prstGeom>
        </p:spPr>
      </p:pic>
      <p:pic>
        <p:nvPicPr>
          <p:cNvPr id="2" name="Picture 1" descr="Signature Logo Sticker">
            <a:extLst>
              <a:ext uri="{FF2B5EF4-FFF2-40B4-BE49-F238E27FC236}">
                <a16:creationId xmlns:a16="http://schemas.microsoft.com/office/drawing/2014/main" id="{7BF36934-712B-8118-A06E-B303ED0C629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-419100" y="807720"/>
            <a:ext cx="4023360" cy="4053840"/>
          </a:xfrm>
          <a:prstGeom prst="rect">
            <a:avLst/>
          </a:prstGeom>
        </p:spPr>
      </p:pic>
      <p:pic>
        <p:nvPicPr>
          <p:cNvPr id="6" name="Picture 5" descr="The Chainsmokers | Official Online Store – The Chainsmokers Store">
            <a:extLst>
              <a:ext uri="{FF2B5EF4-FFF2-40B4-BE49-F238E27FC236}">
                <a16:creationId xmlns:a16="http://schemas.microsoft.com/office/drawing/2014/main" id="{E8DB7D3D-CDFE-2F15-AA3A-82EF542B3CB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57500" y="6873240"/>
            <a:ext cx="2849880" cy="2910840"/>
          </a:xfrm>
          <a:prstGeom prst="rect">
            <a:avLst/>
          </a:prstGeom>
        </p:spPr>
      </p:pic>
      <p:pic>
        <p:nvPicPr>
          <p:cNvPr id="8" name="Picture 7" descr="Hadestown | Official Broadway Site">
            <a:extLst>
              <a:ext uri="{FF2B5EF4-FFF2-40B4-BE49-F238E27FC236}">
                <a16:creationId xmlns:a16="http://schemas.microsoft.com/office/drawing/2014/main" id="{F1EBA1F8-644A-C42B-4C2C-47463EEB76D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048000" y="5053965"/>
            <a:ext cx="2849880" cy="1581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37A3EB-F850-2998-2925-C5F8F177260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8045" y="6821546"/>
            <a:ext cx="2498103" cy="333866"/>
          </a:xfrm>
          <a:prstGeom prst="rect">
            <a:avLst/>
          </a:prstGeom>
        </p:spPr>
      </p:pic>
      <p:pic>
        <p:nvPicPr>
          <p:cNvPr id="14" name="Picture 13" descr="Music | austenyo">
            <a:extLst>
              <a:ext uri="{FF2B5EF4-FFF2-40B4-BE49-F238E27FC236}">
                <a16:creationId xmlns:a16="http://schemas.microsoft.com/office/drawing/2014/main" id="{8567C2DB-8B2D-AA70-06D5-1A8E891AB73E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l="70276" t="20334" r="425" b="-19529"/>
          <a:stretch>
            <a:fillRect/>
          </a:stretch>
        </p:blipFill>
        <p:spPr>
          <a:xfrm>
            <a:off x="3562901" y="2830965"/>
            <a:ext cx="2017374" cy="1248169"/>
          </a:xfrm>
          <a:prstGeom prst="rect">
            <a:avLst/>
          </a:prstGeom>
        </p:spPr>
      </p:pic>
      <p:pic>
        <p:nvPicPr>
          <p:cNvPr id="18" name="Picture 17" descr="Meaningful Stone | Spotify">
            <a:extLst>
              <a:ext uri="{FF2B5EF4-FFF2-40B4-BE49-F238E27FC236}">
                <a16:creationId xmlns:a16="http://schemas.microsoft.com/office/drawing/2014/main" id="{A7B91519-BABF-5AAB-7F80-9A2939BF4FD3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-1544" t="81503" r="329" b="2374"/>
          <a:stretch>
            <a:fillRect/>
          </a:stretch>
        </p:blipFill>
        <p:spPr>
          <a:xfrm>
            <a:off x="243599" y="4134904"/>
            <a:ext cx="3085031" cy="491426"/>
          </a:xfrm>
          <a:prstGeom prst="rect">
            <a:avLst/>
          </a:prstGeom>
        </p:spPr>
      </p:pic>
      <p:pic>
        <p:nvPicPr>
          <p:cNvPr id="20" name="Picture 19" descr="3月・4月「Yoko Oginome☆Spring Fes！2026」開催決定！！チケット販売中！！ | Yoko Oginome">
            <a:extLst>
              <a:ext uri="{FF2B5EF4-FFF2-40B4-BE49-F238E27FC236}">
                <a16:creationId xmlns:a16="http://schemas.microsoft.com/office/drawing/2014/main" id="{61491BA5-1AEF-4572-4F89-1379A214195C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-513" t="7921" r="15556" b="35644"/>
          <a:stretch>
            <a:fillRect/>
          </a:stretch>
        </p:blipFill>
        <p:spPr>
          <a:xfrm>
            <a:off x="198162" y="8093902"/>
            <a:ext cx="2330582" cy="870843"/>
          </a:xfrm>
          <a:prstGeom prst="rect">
            <a:avLst/>
          </a:prstGeom>
        </p:spPr>
      </p:pic>
      <p:pic>
        <p:nvPicPr>
          <p:cNvPr id="10" name="Picture 9" descr="Eve (Japanese singer)">
            <a:extLst>
              <a:ext uri="{FF2B5EF4-FFF2-40B4-BE49-F238E27FC236}">
                <a16:creationId xmlns:a16="http://schemas.microsoft.com/office/drawing/2014/main" id="{5999A177-B9A1-9D9F-EE4A-3BF9DCA2ED03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l="10366" t="14039" r="29767" b="75072"/>
          <a:stretch>
            <a:fillRect/>
          </a:stretch>
        </p:blipFill>
        <p:spPr>
          <a:xfrm>
            <a:off x="442650" y="5329045"/>
            <a:ext cx="1933099" cy="497863"/>
          </a:xfrm>
          <a:prstGeom prst="rect">
            <a:avLst/>
          </a:prstGeom>
        </p:spPr>
      </p:pic>
      <p:pic>
        <p:nvPicPr>
          <p:cNvPr id="24" name="Picture 23" descr="File:Kasabian (Logo).png - Wikimedia Commons">
            <a:extLst>
              <a:ext uri="{FF2B5EF4-FFF2-40B4-BE49-F238E27FC236}">
                <a16:creationId xmlns:a16="http://schemas.microsoft.com/office/drawing/2014/main" id="{FC0D3987-4AAA-EEB3-0364-BBB6AB4807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80313" y="9408233"/>
            <a:ext cx="2619375" cy="470535"/>
          </a:xfrm>
          <a:prstGeom prst="rect">
            <a:avLst/>
          </a:prstGeom>
        </p:spPr>
      </p:pic>
      <p:pic>
        <p:nvPicPr>
          <p:cNvPr id="25" name="Picture 24" descr="FRIDAY PILOTS CLUB - COMPLETE COLLECTION - playlist by Friday Pilots Club |  Spotify">
            <a:extLst>
              <a:ext uri="{FF2B5EF4-FFF2-40B4-BE49-F238E27FC236}">
                <a16:creationId xmlns:a16="http://schemas.microsoft.com/office/drawing/2014/main" id="{92AFC97C-3D18-AB28-BB08-43E45E19AA5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2603079" y="1624264"/>
            <a:ext cx="2316080" cy="2346158"/>
          </a:xfrm>
          <a:prstGeom prst="rect">
            <a:avLst/>
          </a:prstGeom>
        </p:spPr>
      </p:pic>
      <p:pic>
        <p:nvPicPr>
          <p:cNvPr id="26" name="Picture 25" descr="Modern Alibi (@ModernAlibi) • Facebook">
            <a:extLst>
              <a:ext uri="{FF2B5EF4-FFF2-40B4-BE49-F238E27FC236}">
                <a16:creationId xmlns:a16="http://schemas.microsoft.com/office/drawing/2014/main" id="{51062FCC-8222-D967-6140-08F766C0D35E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5866644" y="1428751"/>
            <a:ext cx="2286000" cy="2270961"/>
          </a:xfrm>
          <a:prstGeom prst="rect">
            <a:avLst/>
          </a:prstGeom>
        </p:spPr>
      </p:pic>
      <p:pic>
        <p:nvPicPr>
          <p:cNvPr id="28" name="Picture 27" descr="Saint Motel - HOME PAGE - Official Merchandise">
            <a:extLst>
              <a:ext uri="{FF2B5EF4-FFF2-40B4-BE49-F238E27FC236}">
                <a16:creationId xmlns:a16="http://schemas.microsoft.com/office/drawing/2014/main" id="{0EC0449B-D00F-129C-EC93-5293BC748383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5855617" y="6390524"/>
            <a:ext cx="2293019" cy="2123072"/>
          </a:xfrm>
          <a:prstGeom prst="rect">
            <a:avLst/>
          </a:prstGeom>
        </p:spPr>
      </p:pic>
      <p:pic>
        <p:nvPicPr>
          <p:cNvPr id="29" name="Picture 28" descr="The Attractions Of Youth - Album by Barns Courtney | Spotify">
            <a:extLst>
              <a:ext uri="{FF2B5EF4-FFF2-40B4-BE49-F238E27FC236}">
                <a16:creationId xmlns:a16="http://schemas.microsoft.com/office/drawing/2014/main" id="{99BD6456-67E6-3B7D-DE3A-4530C0F71DC3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2527882" y="7609974"/>
            <a:ext cx="2451435" cy="2436395"/>
          </a:xfrm>
          <a:prstGeom prst="rect">
            <a:avLst/>
          </a:prstGeom>
        </p:spPr>
      </p:pic>
      <p:pic>
        <p:nvPicPr>
          <p:cNvPr id="30" name="Picture 29" descr="Cage the Elephant Concert Poster | Cage the elephant logo, Cage the elephant  album cover, Cage">
            <a:extLst>
              <a:ext uri="{FF2B5EF4-FFF2-40B4-BE49-F238E27FC236}">
                <a16:creationId xmlns:a16="http://schemas.microsoft.com/office/drawing/2014/main" id="{B9206DBA-32CB-BDB7-7F98-33376D4607D4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2419597" y="4291022"/>
            <a:ext cx="1991226" cy="2787795"/>
          </a:xfrm>
          <a:prstGeom prst="rect">
            <a:avLst/>
          </a:prstGeom>
        </p:spPr>
      </p:pic>
      <p:pic>
        <p:nvPicPr>
          <p:cNvPr id="31" name="Picture 30" descr="Hannah Montana logo and titles - Fonts In Use">
            <a:extLst>
              <a:ext uri="{FF2B5EF4-FFF2-40B4-BE49-F238E27FC236}">
                <a16:creationId xmlns:a16="http://schemas.microsoft.com/office/drawing/2014/main" id="{5961571E-183B-A117-8A00-090D9A7CCE09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5412453" y="3695500"/>
            <a:ext cx="2743200" cy="1783080"/>
          </a:xfrm>
          <a:prstGeom prst="rect">
            <a:avLst/>
          </a:prstGeom>
        </p:spPr>
      </p:pic>
      <p:pic>
        <p:nvPicPr>
          <p:cNvPr id="32" name="Picture 31" descr="Josiah Queen's concert sells out | Wayland Baptist University">
            <a:extLst>
              <a:ext uri="{FF2B5EF4-FFF2-40B4-BE49-F238E27FC236}">
                <a16:creationId xmlns:a16="http://schemas.microsoft.com/office/drawing/2014/main" id="{A3420E01-2BD3-C8D0-A4EE-B011BD0E9EC2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5412454" y="8833928"/>
            <a:ext cx="2743198" cy="951011"/>
          </a:xfrm>
          <a:prstGeom prst="rect">
            <a:avLst/>
          </a:prstGeom>
        </p:spPr>
      </p:pic>
      <p:pic>
        <p:nvPicPr>
          <p:cNvPr id="37" name="Picture 36" descr="JD Lock Up Logo Hat - Jordan Davis">
            <a:extLst>
              <a:ext uri="{FF2B5EF4-FFF2-40B4-BE49-F238E27FC236}">
                <a16:creationId xmlns:a16="http://schemas.microsoft.com/office/drawing/2014/main" id="{5E599932-73F7-E926-FEA5-99A469EFB657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4397790" y="4983078"/>
            <a:ext cx="1734553" cy="182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701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F2EE725-0AFB-E2E1-19CC-26B8CC46F8A8}"/>
              </a:ext>
            </a:extLst>
          </p:cNvPr>
          <p:cNvSpPr/>
          <p:nvPr/>
        </p:nvSpPr>
        <p:spPr>
          <a:xfrm>
            <a:off x="1340699" y="876300"/>
            <a:ext cx="8904094" cy="37286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9127393" y="7742714"/>
            <a:ext cx="2932415" cy="847111"/>
            <a:chOff x="0" y="0"/>
            <a:chExt cx="1075555" cy="3107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555" cy="310705"/>
            </a:xfrm>
            <a:custGeom>
              <a:avLst/>
              <a:gdLst/>
              <a:ahLst/>
              <a:cxnLst/>
              <a:rect l="l" t="t" r="r" b="b"/>
              <a:pathLst>
                <a:path w="1075555" h="310705">
                  <a:moveTo>
                    <a:pt x="81844" y="0"/>
                  </a:moveTo>
                  <a:lnTo>
                    <a:pt x="993712" y="0"/>
                  </a:lnTo>
                  <a:cubicBezTo>
                    <a:pt x="1015418" y="0"/>
                    <a:pt x="1036235" y="8623"/>
                    <a:pt x="1051584" y="23971"/>
                  </a:cubicBezTo>
                  <a:cubicBezTo>
                    <a:pt x="1066932" y="39320"/>
                    <a:pt x="1075555" y="60137"/>
                    <a:pt x="1075555" y="81844"/>
                  </a:cubicBezTo>
                  <a:lnTo>
                    <a:pt x="1075555" y="228861"/>
                  </a:lnTo>
                  <a:cubicBezTo>
                    <a:pt x="1075555" y="250567"/>
                    <a:pt x="1066932" y="271385"/>
                    <a:pt x="1051584" y="286733"/>
                  </a:cubicBezTo>
                  <a:cubicBezTo>
                    <a:pt x="1036235" y="302082"/>
                    <a:pt x="1015418" y="310705"/>
                    <a:pt x="993712" y="310705"/>
                  </a:cubicBezTo>
                  <a:lnTo>
                    <a:pt x="81844" y="310705"/>
                  </a:lnTo>
                  <a:cubicBezTo>
                    <a:pt x="36643" y="310705"/>
                    <a:pt x="0" y="274062"/>
                    <a:pt x="0" y="228861"/>
                  </a:cubicBezTo>
                  <a:lnTo>
                    <a:pt x="0" y="81844"/>
                  </a:lnTo>
                  <a:cubicBezTo>
                    <a:pt x="0" y="60137"/>
                    <a:pt x="8623" y="39320"/>
                    <a:pt x="23971" y="23971"/>
                  </a:cubicBezTo>
                  <a:cubicBezTo>
                    <a:pt x="39320" y="8623"/>
                    <a:pt x="60137" y="0"/>
                    <a:pt x="81844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075555" cy="329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84443" y="3210592"/>
            <a:ext cx="5256153" cy="3114734"/>
            <a:chOff x="0" y="0"/>
            <a:chExt cx="1927859" cy="11424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27859" cy="1142427"/>
            </a:xfrm>
            <a:custGeom>
              <a:avLst/>
              <a:gdLst/>
              <a:ahLst/>
              <a:cxnLst/>
              <a:rect l="l" t="t" r="r" b="b"/>
              <a:pathLst>
                <a:path w="1927859" h="1142427">
                  <a:moveTo>
                    <a:pt x="45661" y="0"/>
                  </a:moveTo>
                  <a:lnTo>
                    <a:pt x="1882199" y="0"/>
                  </a:lnTo>
                  <a:cubicBezTo>
                    <a:pt x="1894309" y="0"/>
                    <a:pt x="1905923" y="4811"/>
                    <a:pt x="1914486" y="13374"/>
                  </a:cubicBezTo>
                  <a:cubicBezTo>
                    <a:pt x="1923049" y="21937"/>
                    <a:pt x="1927859" y="33551"/>
                    <a:pt x="1927859" y="45661"/>
                  </a:cubicBezTo>
                  <a:lnTo>
                    <a:pt x="1927859" y="1096766"/>
                  </a:lnTo>
                  <a:cubicBezTo>
                    <a:pt x="1927859" y="1108876"/>
                    <a:pt x="1923049" y="1120490"/>
                    <a:pt x="1914486" y="1129053"/>
                  </a:cubicBezTo>
                  <a:cubicBezTo>
                    <a:pt x="1905923" y="1137616"/>
                    <a:pt x="1894309" y="1142427"/>
                    <a:pt x="1882199" y="1142427"/>
                  </a:cubicBezTo>
                  <a:lnTo>
                    <a:pt x="45661" y="1142427"/>
                  </a:lnTo>
                  <a:cubicBezTo>
                    <a:pt x="33551" y="1142427"/>
                    <a:pt x="21937" y="1137616"/>
                    <a:pt x="13374" y="1129053"/>
                  </a:cubicBezTo>
                  <a:cubicBezTo>
                    <a:pt x="4811" y="1120490"/>
                    <a:pt x="0" y="1108876"/>
                    <a:pt x="0" y="1096766"/>
                  </a:cubicBezTo>
                  <a:lnTo>
                    <a:pt x="0" y="45661"/>
                  </a:lnTo>
                  <a:cubicBezTo>
                    <a:pt x="0" y="33551"/>
                    <a:pt x="4811" y="21937"/>
                    <a:pt x="13374" y="13374"/>
                  </a:cubicBezTo>
                  <a:cubicBezTo>
                    <a:pt x="21937" y="4811"/>
                    <a:pt x="33551" y="0"/>
                    <a:pt x="45661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927859" cy="116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776004" y="6157334"/>
            <a:ext cx="2932415" cy="1802748"/>
            <a:chOff x="0" y="0"/>
            <a:chExt cx="1075555" cy="6612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5555" cy="661214"/>
            </a:xfrm>
            <a:custGeom>
              <a:avLst/>
              <a:gdLst/>
              <a:ahLst/>
              <a:cxnLst/>
              <a:rect l="l" t="t" r="r" b="b"/>
              <a:pathLst>
                <a:path w="1075555" h="661214">
                  <a:moveTo>
                    <a:pt x="81844" y="0"/>
                  </a:moveTo>
                  <a:lnTo>
                    <a:pt x="993712" y="0"/>
                  </a:lnTo>
                  <a:cubicBezTo>
                    <a:pt x="1015418" y="0"/>
                    <a:pt x="1036235" y="8623"/>
                    <a:pt x="1051584" y="23971"/>
                  </a:cubicBezTo>
                  <a:cubicBezTo>
                    <a:pt x="1066932" y="39320"/>
                    <a:pt x="1075555" y="60137"/>
                    <a:pt x="1075555" y="81844"/>
                  </a:cubicBezTo>
                  <a:lnTo>
                    <a:pt x="1075555" y="579371"/>
                  </a:lnTo>
                  <a:cubicBezTo>
                    <a:pt x="1075555" y="601077"/>
                    <a:pt x="1066932" y="621894"/>
                    <a:pt x="1051584" y="637243"/>
                  </a:cubicBezTo>
                  <a:cubicBezTo>
                    <a:pt x="1036235" y="652592"/>
                    <a:pt x="1015418" y="661214"/>
                    <a:pt x="993712" y="661214"/>
                  </a:cubicBezTo>
                  <a:lnTo>
                    <a:pt x="81844" y="661214"/>
                  </a:lnTo>
                  <a:cubicBezTo>
                    <a:pt x="60137" y="661214"/>
                    <a:pt x="39320" y="652592"/>
                    <a:pt x="23971" y="637243"/>
                  </a:cubicBezTo>
                  <a:cubicBezTo>
                    <a:pt x="8623" y="621894"/>
                    <a:pt x="0" y="601077"/>
                    <a:pt x="0" y="579371"/>
                  </a:cubicBezTo>
                  <a:lnTo>
                    <a:pt x="0" y="81844"/>
                  </a:lnTo>
                  <a:cubicBezTo>
                    <a:pt x="0" y="60137"/>
                    <a:pt x="8623" y="39320"/>
                    <a:pt x="23971" y="23971"/>
                  </a:cubicBezTo>
                  <a:cubicBezTo>
                    <a:pt x="39320" y="8623"/>
                    <a:pt x="60137" y="0"/>
                    <a:pt x="81844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075555" cy="680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978092" y="5448300"/>
            <a:ext cx="4401568" cy="2967511"/>
          </a:xfrm>
          <a:custGeom>
            <a:avLst/>
            <a:gdLst/>
            <a:ahLst/>
            <a:cxnLst/>
            <a:rect l="l" t="t" r="r" b="b"/>
            <a:pathLst>
              <a:path w="2828800" h="1907160">
                <a:moveTo>
                  <a:pt x="0" y="0"/>
                </a:moveTo>
                <a:lnTo>
                  <a:pt x="2828800" y="0"/>
                </a:lnTo>
                <a:lnTo>
                  <a:pt x="2828800" y="1907159"/>
                </a:lnTo>
                <a:lnTo>
                  <a:pt x="0" y="19071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32" t="-125611" r="-138297" b="-618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5948656" y="5597084"/>
            <a:ext cx="4401568" cy="2823424"/>
          </a:xfrm>
          <a:custGeom>
            <a:avLst/>
            <a:gdLst/>
            <a:ahLst/>
            <a:cxnLst/>
            <a:rect l="l" t="t" r="r" b="b"/>
            <a:pathLst>
              <a:path w="2828800" h="1814558">
                <a:moveTo>
                  <a:pt x="0" y="0"/>
                </a:moveTo>
                <a:lnTo>
                  <a:pt x="2828800" y="0"/>
                </a:lnTo>
                <a:lnTo>
                  <a:pt x="2828800" y="1814558"/>
                </a:lnTo>
                <a:lnTo>
                  <a:pt x="0" y="1814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8691" t="-138493" r="-18739" b="-636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340699" y="1060958"/>
            <a:ext cx="8904094" cy="1594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15"/>
              </a:lnSpc>
              <a:spcBef>
                <a:spcPct val="0"/>
              </a:spcBef>
            </a:pPr>
            <a:r>
              <a:rPr lang="en-US" sz="9431" b="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PITCH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48656" y="5218880"/>
            <a:ext cx="2556583" cy="458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37"/>
              </a:lnSpc>
              <a:spcBef>
                <a:spcPct val="0"/>
              </a:spcBef>
            </a:pPr>
            <a:r>
              <a:rPr lang="en-US" sz="2708" spc="265">
                <a:solidFill>
                  <a:srgbClr val="231F20"/>
                </a:solidFill>
                <a:latin typeface="Oswald"/>
                <a:ea typeface="Oswald"/>
                <a:cs typeface="Oswald"/>
                <a:sym typeface="Oswald"/>
              </a:rPr>
              <a:t>HIGHER PITCH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75281" y="2668113"/>
            <a:ext cx="8187907" cy="1498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2886" b="1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quality that makes it possible to judge sounds as "higher" and "lower" in the sense associated with musical melodies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73376358-009E-F6D0-64F8-5748B9B2520F}"/>
              </a:ext>
            </a:extLst>
          </p:cNvPr>
          <p:cNvSpPr txBox="1"/>
          <p:nvPr/>
        </p:nvSpPr>
        <p:spPr>
          <a:xfrm>
            <a:off x="1075849" y="8594097"/>
            <a:ext cx="2556583" cy="437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37"/>
              </a:lnSpc>
              <a:spcBef>
                <a:spcPct val="0"/>
              </a:spcBef>
            </a:pPr>
            <a:r>
              <a:rPr lang="en-US" sz="2700" spc="265">
                <a:solidFill>
                  <a:srgbClr val="231F20"/>
                </a:solidFill>
                <a:latin typeface="Oswald"/>
                <a:ea typeface="Oswald"/>
                <a:cs typeface="Oswald"/>
                <a:sym typeface="Oswald"/>
              </a:rPr>
              <a:t>LOWER PITCH</a:t>
            </a:r>
          </a:p>
        </p:txBody>
      </p:sp>
      <p:pic>
        <p:nvPicPr>
          <p:cNvPr id="2" name="Picture 1" descr="American Standard Pitch Notation (ASPN) – Open Music Theory">
            <a:extLst>
              <a:ext uri="{FF2B5EF4-FFF2-40B4-BE49-F238E27FC236}">
                <a16:creationId xmlns:a16="http://schemas.microsoft.com/office/drawing/2014/main" id="{C056960E-8D99-F69A-8353-053F3F6495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276"/>
          <a:stretch>
            <a:fillRect/>
          </a:stretch>
        </p:blipFill>
        <p:spPr>
          <a:xfrm>
            <a:off x="11283989" y="1528834"/>
            <a:ext cx="5810012" cy="6175821"/>
          </a:xfrm>
          <a:prstGeom prst="rect">
            <a:avLst/>
          </a:prstGeom>
        </p:spPr>
      </p:pic>
      <p:sp>
        <p:nvSpPr>
          <p:cNvPr id="4" name="TextBox 19">
            <a:extLst>
              <a:ext uri="{FF2B5EF4-FFF2-40B4-BE49-F238E27FC236}">
                <a16:creationId xmlns:a16="http://schemas.microsoft.com/office/drawing/2014/main" id="{D75B7D2A-0A24-F5F3-D2E0-135698F577F3}"/>
              </a:ext>
            </a:extLst>
          </p:cNvPr>
          <p:cNvSpPr txBox="1"/>
          <p:nvPr/>
        </p:nvSpPr>
        <p:spPr>
          <a:xfrm>
            <a:off x="11151467" y="875867"/>
            <a:ext cx="6331816" cy="437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737"/>
              </a:lnSpc>
              <a:spcBef>
                <a:spcPct val="0"/>
              </a:spcBef>
            </a:pPr>
            <a:r>
              <a:rPr lang="en-US" sz="2700" spc="265">
                <a:solidFill>
                  <a:srgbClr val="231F20"/>
                </a:solidFill>
                <a:latin typeface="Oswald"/>
                <a:ea typeface="Oswald"/>
                <a:cs typeface="Oswald"/>
                <a:sym typeface="Oswald"/>
              </a:rPr>
              <a:t>UP AN OCTAVE = ~2x FREQUENCY </a:t>
            </a:r>
          </a:p>
        </p:txBody>
      </p:sp>
      <p:pic>
        <p:nvPicPr>
          <p:cNvPr id="3" name="Picture 2" descr="American Standard Pitch Notation (ASPN) – Open Music Theory">
            <a:extLst>
              <a:ext uri="{FF2B5EF4-FFF2-40B4-BE49-F238E27FC236}">
                <a16:creationId xmlns:a16="http://schemas.microsoft.com/office/drawing/2014/main" id="{9DE9BABF-DFCC-796C-D68B-1D30B6FCDF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3" t="34212" r="57720" b="5228"/>
          <a:stretch>
            <a:fillRect/>
          </a:stretch>
        </p:blipFill>
        <p:spPr>
          <a:xfrm>
            <a:off x="12028138" y="6094362"/>
            <a:ext cx="4340076" cy="37400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0" grpId="0"/>
      <p:bldP spid="22" grpId="0"/>
      <p:bldP spid="25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22203" y="1409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D1CE4B-3BDD-5519-4869-71CAB3AB3A86}"/>
              </a:ext>
            </a:extLst>
          </p:cNvPr>
          <p:cNvSpPr/>
          <p:nvPr/>
        </p:nvSpPr>
        <p:spPr>
          <a:xfrm>
            <a:off x="8458200" y="1333500"/>
            <a:ext cx="8904094" cy="372867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9654CCF1-77D5-80AC-B4BD-423DF6E03E95}"/>
              </a:ext>
            </a:extLst>
          </p:cNvPr>
          <p:cNvSpPr txBox="1"/>
          <p:nvPr/>
        </p:nvSpPr>
        <p:spPr>
          <a:xfrm>
            <a:off x="8874973" y="1526611"/>
            <a:ext cx="8097687" cy="1594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15"/>
              </a:lnSpc>
              <a:spcBef>
                <a:spcPct val="0"/>
              </a:spcBef>
            </a:pPr>
            <a:r>
              <a:rPr lang="en-US" sz="9431" b="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RHYTHM</a:t>
            </a: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FC5E448B-D4D2-47DD-E8B2-95ACBC82262F}"/>
              </a:ext>
            </a:extLst>
          </p:cNvPr>
          <p:cNvSpPr txBox="1"/>
          <p:nvPr/>
        </p:nvSpPr>
        <p:spPr>
          <a:xfrm>
            <a:off x="8686800" y="3313860"/>
            <a:ext cx="8187907" cy="989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2850" b="1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placement of sounds in time forming regular, repeated patterns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71798F-CE79-A8EE-85C4-9C4971B7D473}"/>
              </a:ext>
            </a:extLst>
          </p:cNvPr>
          <p:cNvCxnSpPr/>
          <p:nvPr/>
        </p:nvCxnSpPr>
        <p:spPr>
          <a:xfrm>
            <a:off x="1524000" y="1229035"/>
            <a:ext cx="0" cy="4191000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63809D-DCD6-488A-63C9-ECEFF71663D4}"/>
              </a:ext>
            </a:extLst>
          </p:cNvPr>
          <p:cNvCxnSpPr>
            <a:cxnSpLocks/>
          </p:cNvCxnSpPr>
          <p:nvPr/>
        </p:nvCxnSpPr>
        <p:spPr>
          <a:xfrm>
            <a:off x="1524000" y="3286435"/>
            <a:ext cx="5410200" cy="0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217623-BD5D-5E4C-0602-D706AF3997A4}"/>
              </a:ext>
            </a:extLst>
          </p:cNvPr>
          <p:cNvCxnSpPr>
            <a:cxnSpLocks/>
          </p:cNvCxnSpPr>
          <p:nvPr/>
        </p:nvCxnSpPr>
        <p:spPr>
          <a:xfrm flipV="1">
            <a:off x="2286000" y="2448235"/>
            <a:ext cx="0" cy="167640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1C252B-4317-5798-2D7D-6B25AAEF2F82}"/>
              </a:ext>
            </a:extLst>
          </p:cNvPr>
          <p:cNvCxnSpPr>
            <a:cxnSpLocks/>
          </p:cNvCxnSpPr>
          <p:nvPr/>
        </p:nvCxnSpPr>
        <p:spPr>
          <a:xfrm flipV="1">
            <a:off x="3429000" y="2442930"/>
            <a:ext cx="0" cy="167640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79E8447-0735-2102-F5F2-9133B9088522}"/>
              </a:ext>
            </a:extLst>
          </p:cNvPr>
          <p:cNvCxnSpPr>
            <a:cxnSpLocks/>
          </p:cNvCxnSpPr>
          <p:nvPr/>
        </p:nvCxnSpPr>
        <p:spPr>
          <a:xfrm flipV="1">
            <a:off x="4572000" y="2442930"/>
            <a:ext cx="0" cy="167640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CB3404-4A4C-5471-CD70-42B35E7C7BFA}"/>
              </a:ext>
            </a:extLst>
          </p:cNvPr>
          <p:cNvCxnSpPr>
            <a:cxnSpLocks/>
          </p:cNvCxnSpPr>
          <p:nvPr/>
        </p:nvCxnSpPr>
        <p:spPr>
          <a:xfrm flipV="1">
            <a:off x="5791200" y="2469430"/>
            <a:ext cx="0" cy="167640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Rhythm Symbols – Approach To Acapella">
            <a:extLst>
              <a:ext uri="{FF2B5EF4-FFF2-40B4-BE49-F238E27FC236}">
                <a16:creationId xmlns:a16="http://schemas.microsoft.com/office/drawing/2014/main" id="{66AAE600-FA91-3370-D8FE-D88E06E82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470" y="5564827"/>
            <a:ext cx="8724899" cy="4323730"/>
          </a:xfrm>
          <a:prstGeom prst="rect">
            <a:avLst/>
          </a:prstGeom>
          <a:ln w="57150">
            <a:solidFill>
              <a:srgbClr val="FAD6B8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22">
            <a:extLst>
              <a:ext uri="{FF2B5EF4-FFF2-40B4-BE49-F238E27FC236}">
                <a16:creationId xmlns:a16="http://schemas.microsoft.com/office/drawing/2014/main" id="{B352072B-A168-30B1-8503-6BA895A80A64}"/>
              </a:ext>
            </a:extLst>
          </p:cNvPr>
          <p:cNvSpPr txBox="1"/>
          <p:nvPr/>
        </p:nvSpPr>
        <p:spPr>
          <a:xfrm>
            <a:off x="-1328530" y="1992796"/>
            <a:ext cx="8187907" cy="476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2886" b="1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Slower, distinct events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4B308C-F4AF-243D-B734-A4DD6B360959}"/>
              </a:ext>
            </a:extLst>
          </p:cNvPr>
          <p:cNvSpPr/>
          <p:nvPr/>
        </p:nvSpPr>
        <p:spPr>
          <a:xfrm>
            <a:off x="652670" y="3059596"/>
            <a:ext cx="16992600" cy="2133600"/>
          </a:xfrm>
          <a:prstGeom prst="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6BBC9A09-7942-87B9-28F9-38AA876D989F}"/>
              </a:ext>
            </a:extLst>
          </p:cNvPr>
          <p:cNvSpPr txBox="1"/>
          <p:nvPr/>
        </p:nvSpPr>
        <p:spPr>
          <a:xfrm>
            <a:off x="-261730" y="3329311"/>
            <a:ext cx="8097687" cy="1594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15"/>
              </a:lnSpc>
              <a:spcBef>
                <a:spcPct val="0"/>
              </a:spcBef>
            </a:pPr>
            <a:r>
              <a:rPr lang="en-US" sz="9431" b="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RHYTHM</a:t>
            </a:r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6E464076-11EF-38F1-5F0C-04A538817C13}"/>
              </a:ext>
            </a:extLst>
          </p:cNvPr>
          <p:cNvSpPr txBox="1"/>
          <p:nvPr/>
        </p:nvSpPr>
        <p:spPr>
          <a:xfrm>
            <a:off x="11092070" y="3329342"/>
            <a:ext cx="8904094" cy="1594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15"/>
              </a:lnSpc>
              <a:spcBef>
                <a:spcPct val="0"/>
              </a:spcBef>
            </a:pPr>
            <a:r>
              <a:rPr lang="en-US" sz="9431" b="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PITCH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B4031ED8-B5B7-E41B-7B47-0ED6EE7CB5DB}"/>
              </a:ext>
            </a:extLst>
          </p:cNvPr>
          <p:cNvSpPr txBox="1"/>
          <p:nvPr/>
        </p:nvSpPr>
        <p:spPr>
          <a:xfrm>
            <a:off x="10634870" y="1992796"/>
            <a:ext cx="8187907" cy="476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2886" b="1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Faster, indistinguishable events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E7AEBAB1-A485-A67D-7220-B307D5E38C89}"/>
              </a:ext>
            </a:extLst>
          </p:cNvPr>
          <p:cNvSpPr txBox="1"/>
          <p:nvPr/>
        </p:nvSpPr>
        <p:spPr>
          <a:xfrm>
            <a:off x="-914398" y="6192079"/>
            <a:ext cx="8187907" cy="98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2850" b="1">
                <a:solidFill>
                  <a:srgbClr val="100F0D"/>
                </a:solidFill>
                <a:latin typeface="Montserrat"/>
                <a:sym typeface="Montserrat Light"/>
              </a:rPr>
              <a:t>MUSIC = ~40-240 BPM</a:t>
            </a:r>
          </a:p>
          <a:p>
            <a:pPr algn="ctr">
              <a:lnSpc>
                <a:spcPts val="4040"/>
              </a:lnSpc>
            </a:pPr>
            <a:r>
              <a:rPr lang="en-US" sz="2850" b="1">
                <a:solidFill>
                  <a:srgbClr val="100F0D"/>
                </a:solidFill>
                <a:latin typeface="Montserrat"/>
              </a:rPr>
              <a:t>60 bpm = 1 Hz</a:t>
            </a:r>
          </a:p>
        </p:txBody>
      </p:sp>
      <p:sp>
        <p:nvSpPr>
          <p:cNvPr id="4" name="TextBox 22">
            <a:extLst>
              <a:ext uri="{FF2B5EF4-FFF2-40B4-BE49-F238E27FC236}">
                <a16:creationId xmlns:a16="http://schemas.microsoft.com/office/drawing/2014/main" id="{FF4789D7-94AB-8356-4AC8-5720D4DAB57D}"/>
              </a:ext>
            </a:extLst>
          </p:cNvPr>
          <p:cNvSpPr txBox="1"/>
          <p:nvPr/>
        </p:nvSpPr>
        <p:spPr>
          <a:xfrm>
            <a:off x="6018146" y="6192079"/>
            <a:ext cx="5081929" cy="1500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2850" b="1">
                <a:solidFill>
                  <a:srgbClr val="100F0D"/>
                </a:solidFill>
                <a:latin typeface="Montserrat"/>
                <a:sym typeface="Montserrat Light"/>
              </a:rPr>
              <a:t> INDISTINGUISHABLE FROM TONE </a:t>
            </a:r>
            <a:endParaRPr lang="en-US" b="1">
              <a:solidFill>
                <a:srgbClr val="000000"/>
              </a:solidFill>
              <a:latin typeface="Montserrat"/>
              <a:ea typeface="Calibri"/>
              <a:cs typeface="Calibri"/>
              <a:sym typeface="Montserrat Light"/>
            </a:endParaRPr>
          </a:p>
          <a:p>
            <a:pPr algn="ctr">
              <a:lnSpc>
                <a:spcPts val="4040"/>
              </a:lnSpc>
            </a:pPr>
            <a:r>
              <a:rPr lang="en-US" sz="2850" b="1">
                <a:solidFill>
                  <a:srgbClr val="100F0D"/>
                </a:solidFill>
                <a:latin typeface="Montserrat"/>
                <a:sym typeface="Montserrat Light"/>
              </a:rPr>
              <a:t>~480-600 bpm (8 – 10 Hz)</a:t>
            </a:r>
            <a:endParaRPr lang="en-US" b="1">
              <a:latin typeface="Montserrat"/>
              <a:ea typeface="Calibri"/>
              <a:cs typeface="Calibri"/>
            </a:endParaRP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2DCB2A08-51AF-9409-CE9D-321BAFFC3CAE}"/>
              </a:ext>
            </a:extLst>
          </p:cNvPr>
          <p:cNvSpPr txBox="1"/>
          <p:nvPr/>
        </p:nvSpPr>
        <p:spPr>
          <a:xfrm>
            <a:off x="12876146" y="6192079"/>
            <a:ext cx="4750624" cy="988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2850" b="1">
                <a:solidFill>
                  <a:srgbClr val="100F0D"/>
                </a:solidFill>
                <a:latin typeface="Montserrat"/>
                <a:ea typeface="Calibri"/>
                <a:cs typeface="Calibri"/>
              </a:rPr>
              <a:t>"CONCERT A"</a:t>
            </a:r>
          </a:p>
          <a:p>
            <a:pPr algn="ctr">
              <a:lnSpc>
                <a:spcPts val="4040"/>
              </a:lnSpc>
            </a:pPr>
            <a:r>
              <a:rPr lang="en-US" sz="2850" b="1">
                <a:solidFill>
                  <a:srgbClr val="100F0D"/>
                </a:solidFill>
                <a:latin typeface="Montserrat"/>
                <a:ea typeface="Calibri"/>
                <a:cs typeface="Calibri"/>
              </a:rPr>
              <a:t>440 Hz (or 26,400 bpm)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5C489-7C6E-0F29-4AFE-CB892B526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2">
            <a:extLst>
              <a:ext uri="{FF2B5EF4-FFF2-40B4-BE49-F238E27FC236}">
                <a16:creationId xmlns:a16="http://schemas.microsoft.com/office/drawing/2014/main" id="{34234D0F-B2CA-6421-4ADB-763EA0893B6E}"/>
              </a:ext>
            </a:extLst>
          </p:cNvPr>
          <p:cNvSpPr txBox="1"/>
          <p:nvPr/>
        </p:nvSpPr>
        <p:spPr>
          <a:xfrm>
            <a:off x="1752600" y="2628900"/>
            <a:ext cx="14935200" cy="2308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000" b="1" spc="22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Rhythm, you have it or you don't, that's a fallacy </a:t>
            </a:r>
            <a:r>
              <a:rPr lang="en-US" sz="4000" b="1" spc="223">
                <a:solidFill>
                  <a:schemeClr val="bg1">
                    <a:lumMod val="65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br>
              <a:rPr lang="en-US" sz="4000" b="1" spc="22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 sz="4000" b="1" spc="22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I'm in them, every </a:t>
            </a:r>
            <a:r>
              <a:rPr lang="en-US" sz="4000" b="1" spc="223" err="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sproutin</a:t>
            </a:r>
            <a:r>
              <a:rPr lang="en-US" sz="4000" b="1" spc="22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' tree, every child of peace</a:t>
            </a:r>
          </a:p>
          <a:p>
            <a:pPr algn="l">
              <a:lnSpc>
                <a:spcPct val="150000"/>
              </a:lnSpc>
            </a:pPr>
            <a:endParaRPr lang="en-US" sz="2200" spc="223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65E1BF-1E15-8CDF-5166-CF421FF01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53600" y="4000500"/>
            <a:ext cx="4191000" cy="4201198"/>
          </a:xfrm>
          <a:prstGeom prst="rect">
            <a:avLst/>
          </a:prstGeom>
        </p:spPr>
      </p:pic>
      <p:sp>
        <p:nvSpPr>
          <p:cNvPr id="11" name="TextBox 22">
            <a:extLst>
              <a:ext uri="{FF2B5EF4-FFF2-40B4-BE49-F238E27FC236}">
                <a16:creationId xmlns:a16="http://schemas.microsoft.com/office/drawing/2014/main" id="{F02F8912-E70A-ACE9-9787-34B95D8FD2D5}"/>
              </a:ext>
            </a:extLst>
          </p:cNvPr>
          <p:cNvSpPr txBox="1"/>
          <p:nvPr/>
        </p:nvSpPr>
        <p:spPr>
          <a:xfrm>
            <a:off x="8839200" y="5753100"/>
            <a:ext cx="1219200" cy="1384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000" b="1" spc="22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-</a:t>
            </a:r>
          </a:p>
          <a:p>
            <a:pPr algn="l">
              <a:lnSpc>
                <a:spcPct val="150000"/>
              </a:lnSpc>
            </a:pPr>
            <a:endParaRPr lang="en-US" sz="2200" spc="223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" name="TextBox 22">
            <a:extLst>
              <a:ext uri="{FF2B5EF4-FFF2-40B4-BE49-F238E27FC236}">
                <a16:creationId xmlns:a16="http://schemas.microsoft.com/office/drawing/2014/main" id="{4F09DAFD-3617-EFF1-CFDE-846D3319F536}"/>
              </a:ext>
            </a:extLst>
          </p:cNvPr>
          <p:cNvSpPr txBox="1"/>
          <p:nvPr/>
        </p:nvSpPr>
        <p:spPr>
          <a:xfrm>
            <a:off x="10515600" y="7109080"/>
            <a:ext cx="5257800" cy="12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i="1" spc="22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“Clint Eastwood”, 2021</a:t>
            </a:r>
          </a:p>
          <a:p>
            <a:pPr algn="l">
              <a:lnSpc>
                <a:spcPct val="150000"/>
              </a:lnSpc>
            </a:pPr>
            <a:endParaRPr lang="en-US" sz="2200" spc="223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151898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086100"/>
            <a:chOff x="0" y="0"/>
            <a:chExt cx="481659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690980" y="801425"/>
            <a:ext cx="10906040" cy="1349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sz="8030" b="1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TEST YOUR SKILLS!</a:t>
            </a:r>
          </a:p>
        </p:txBody>
      </p:sp>
      <p:grpSp>
        <p:nvGrpSpPr>
          <p:cNvPr id="24" name="Group 2">
            <a:extLst>
              <a:ext uri="{FF2B5EF4-FFF2-40B4-BE49-F238E27FC236}">
                <a16:creationId xmlns:a16="http://schemas.microsoft.com/office/drawing/2014/main" id="{2A2BBD7D-EC00-E4E1-0ABB-F3CE2D7759DF}"/>
              </a:ext>
            </a:extLst>
          </p:cNvPr>
          <p:cNvGrpSpPr/>
          <p:nvPr/>
        </p:nvGrpSpPr>
        <p:grpSpPr>
          <a:xfrm rot="16200000">
            <a:off x="4022084" y="349628"/>
            <a:ext cx="2950954" cy="9121681"/>
            <a:chOff x="0" y="0"/>
            <a:chExt cx="4816593" cy="812800"/>
          </a:xfr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rgbClr val="F2F4F5"/>
              </a:gs>
            </a:gsLst>
            <a:lin ang="4200000" scaled="0"/>
          </a:gradFill>
        </p:grpSpPr>
        <p:sp>
          <p:nvSpPr>
            <p:cNvPr id="25" name="Freeform 3">
              <a:extLst>
                <a:ext uri="{FF2B5EF4-FFF2-40B4-BE49-F238E27FC236}">
                  <a16:creationId xmlns:a16="http://schemas.microsoft.com/office/drawing/2014/main" id="{FAB77418-9D0F-0FA9-FE92-8FD9E05F33F1}"/>
                </a:ext>
              </a:extLst>
            </p:cNvPr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4">
              <a:extLst>
                <a:ext uri="{FF2B5EF4-FFF2-40B4-BE49-F238E27FC236}">
                  <a16:creationId xmlns:a16="http://schemas.microsoft.com/office/drawing/2014/main" id="{F54BFF08-0377-DDBC-DAD5-8EA63BDA6936}"/>
                </a:ext>
              </a:extLst>
            </p:cNvPr>
            <p:cNvSpPr txBox="1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8" name="TextBox 22">
            <a:extLst>
              <a:ext uri="{FF2B5EF4-FFF2-40B4-BE49-F238E27FC236}">
                <a16:creationId xmlns:a16="http://schemas.microsoft.com/office/drawing/2014/main" id="{BB88B08F-A28E-FB0E-A40A-BF52707BE6D4}"/>
              </a:ext>
            </a:extLst>
          </p:cNvPr>
          <p:cNvSpPr txBox="1"/>
          <p:nvPr/>
        </p:nvSpPr>
        <p:spPr>
          <a:xfrm>
            <a:off x="4693831" y="3767306"/>
            <a:ext cx="8900334" cy="2725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00" b="1" spc="223">
                <a:solidFill>
                  <a:srgbClr val="231F20"/>
                </a:solidFill>
                <a:latin typeface="Montserrat"/>
                <a:ea typeface="DM Sans"/>
                <a:cs typeface="DM Sans"/>
                <a:sym typeface="DM Sans"/>
              </a:rPr>
              <a:t>Distorted Tunes Test</a:t>
            </a:r>
          </a:p>
          <a:p>
            <a:pPr marL="492125" lvl="1" indent="-245745">
              <a:lnSpc>
                <a:spcPts val="3148"/>
              </a:lnSpc>
              <a:buFont typeface="Arial"/>
              <a:buChar char="•"/>
            </a:pPr>
            <a:r>
              <a:rPr lang="en-US" sz="2200" b="1" u="sng" spc="223">
                <a:solidFill>
                  <a:srgbClr val="231F20"/>
                </a:solidFill>
                <a:latin typeface="Montserrat"/>
                <a:ea typeface="+mn-lt"/>
                <a:cs typeface="+mn-lt"/>
                <a:sym typeface="DM Sans"/>
                <a:hlinkClick r:id="rId2"/>
              </a:rPr>
              <a:t>https://www.nidcd.nih.gov/tunestest/take-distorted-tunes-test</a:t>
            </a:r>
            <a:r>
              <a:rPr lang="en-US" sz="2200" b="1" spc="223">
                <a:solidFill>
                  <a:srgbClr val="231F20"/>
                </a:solidFill>
                <a:latin typeface="Montserrat"/>
                <a:ea typeface="+mn-lt"/>
                <a:cs typeface="+mn-lt"/>
                <a:sym typeface="DM Sans"/>
              </a:rPr>
              <a:t> </a:t>
            </a:r>
            <a:endParaRPr lang="en-US">
              <a:latin typeface="Calibri"/>
              <a:ea typeface="Calibri"/>
              <a:cs typeface="Calibri"/>
            </a:endParaRPr>
          </a:p>
          <a:p>
            <a:pPr marL="492125" lvl="1" indent="-245745" algn="l">
              <a:lnSpc>
                <a:spcPts val="3148"/>
              </a:lnSpc>
              <a:buFont typeface="Arial"/>
              <a:buChar char="•"/>
            </a:pPr>
            <a:r>
              <a:rPr lang="en-US" sz="2200" b="1" spc="223">
                <a:solidFill>
                  <a:srgbClr val="231F20"/>
                </a:solidFill>
                <a:latin typeface="Montserrat"/>
                <a:ea typeface="DM Sans"/>
                <a:cs typeface="DM Sans"/>
                <a:sym typeface="DM Sans"/>
              </a:rPr>
              <a:t>Determine whether the tune is played in the correct pitch</a:t>
            </a:r>
            <a:endParaRPr lang="en-US" sz="2200" b="1" spc="223">
              <a:solidFill>
                <a:srgbClr val="231F20"/>
              </a:solidFill>
              <a:latin typeface="Montserrat"/>
              <a:ea typeface="DM Sans"/>
              <a:cs typeface="DM Sans"/>
            </a:endParaRPr>
          </a:p>
          <a:p>
            <a:pPr marL="492125" lvl="1" indent="-245745" algn="l">
              <a:lnSpc>
                <a:spcPts val="3148"/>
              </a:lnSpc>
              <a:buFont typeface="Arial"/>
              <a:buChar char="•"/>
            </a:pPr>
            <a:r>
              <a:rPr lang="en-US" sz="2200" b="1" spc="223">
                <a:solidFill>
                  <a:srgbClr val="231F20"/>
                </a:solidFill>
                <a:latin typeface="Montserrat"/>
                <a:ea typeface="DM Sans"/>
                <a:cs typeface="DM Sans"/>
                <a:sym typeface="DM Sans"/>
              </a:rPr>
              <a:t>Record your score</a:t>
            </a:r>
            <a:endParaRPr lang="en-US" sz="2200" b="1" spc="223">
              <a:solidFill>
                <a:srgbClr val="231F20"/>
              </a:solidFill>
              <a:latin typeface="Montserrat"/>
              <a:ea typeface="DM Sans"/>
              <a:cs typeface="DM Sans"/>
            </a:endParaRPr>
          </a:p>
          <a:p>
            <a:pPr algn="l">
              <a:lnSpc>
                <a:spcPts val="2734"/>
              </a:lnSpc>
            </a:pPr>
            <a:endParaRPr lang="en-US" sz="2200" spc="223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9" name="Group 2">
            <a:extLst>
              <a:ext uri="{FF2B5EF4-FFF2-40B4-BE49-F238E27FC236}">
                <a16:creationId xmlns:a16="http://schemas.microsoft.com/office/drawing/2014/main" id="{98070F50-153A-D447-C9D2-A7E6C766136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5400000">
            <a:off x="11314964" y="3603148"/>
            <a:ext cx="2950954" cy="9121681"/>
            <a:chOff x="0" y="0"/>
            <a:chExt cx="4816593" cy="812800"/>
          </a:xfr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100000">
                <a:srgbClr val="F2F4F5"/>
              </a:gs>
            </a:gsLst>
            <a:lin ang="4200000" scaled="0"/>
          </a:gradFill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0793EE0B-859C-A31A-9CE5-1621B110A1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4">
              <a:extLst>
                <a:ext uri="{FF2B5EF4-FFF2-40B4-BE49-F238E27FC236}">
                  <a16:creationId xmlns:a16="http://schemas.microsoft.com/office/drawing/2014/main" id="{C47E05DD-662E-33F8-0E16-FD50EA5B81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33" name="TextBox 23">
            <a:extLst>
              <a:ext uri="{FF2B5EF4-FFF2-40B4-BE49-F238E27FC236}">
                <a16:creationId xmlns:a16="http://schemas.microsoft.com/office/drawing/2014/main" id="{9148207B-BFB3-5AB4-7940-91566ECA9700}"/>
              </a:ext>
            </a:extLst>
          </p:cNvPr>
          <p:cNvSpPr txBox="1"/>
          <p:nvPr/>
        </p:nvSpPr>
        <p:spPr>
          <a:xfrm>
            <a:off x="4706400" y="7200900"/>
            <a:ext cx="8890431" cy="1725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sz="2200" b="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Got Rhythm?</a:t>
            </a:r>
          </a:p>
          <a:p>
            <a:pPr marL="427355" lvl="1" indent="-213360" algn="l">
              <a:lnSpc>
                <a:spcPts val="2734"/>
              </a:lnSpc>
              <a:buFont typeface="Arial"/>
              <a:buChar char="•"/>
            </a:pPr>
            <a:r>
              <a:rPr lang="en-US" sz="2200" b="1" u="sng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  <a:hlinkClick r:id="rId3" tooltip="https://www.concerthotels.com/got-rhythm"/>
              </a:rPr>
              <a:t>https://www.concerthotels.com/got-rhythm</a:t>
            </a:r>
            <a:endParaRPr lang="en-US" sz="2200" b="1" u="sng" spc="194">
              <a:solidFill>
                <a:srgbClr val="231F20"/>
              </a:solidFill>
              <a:latin typeface="DM Sans"/>
              <a:ea typeface="DM Sans"/>
              <a:cs typeface="DM Sans"/>
              <a:hlinkClick r:id="rId3"/>
            </a:endParaRPr>
          </a:p>
          <a:p>
            <a:pPr marL="427355" lvl="1" indent="-213360" algn="l">
              <a:lnSpc>
                <a:spcPts val="2734"/>
              </a:lnSpc>
              <a:buFont typeface="Arial"/>
              <a:buChar char="•"/>
            </a:pPr>
            <a:r>
              <a:rPr lang="en-US" sz="2200" b="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Tap your space key to the beat of the rhythm </a:t>
            </a:r>
            <a:endParaRPr lang="en-US" sz="2200" b="1" spc="194">
              <a:solidFill>
                <a:srgbClr val="231F20"/>
              </a:solidFill>
              <a:latin typeface="DM Sans"/>
              <a:ea typeface="DM Sans"/>
              <a:cs typeface="DM Sans"/>
            </a:endParaRPr>
          </a:p>
          <a:p>
            <a:pPr marL="427355" lvl="1" indent="-213360">
              <a:lnSpc>
                <a:spcPts val="2734"/>
              </a:lnSpc>
              <a:buFont typeface="Arial"/>
              <a:buChar char="•"/>
            </a:pPr>
            <a:r>
              <a:rPr lang="en-US" sz="2200" b="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Take the test three times and record each score on the spreadsheet under Trial 1, Trial 2, and Trial 3.</a:t>
            </a:r>
            <a:endParaRPr lang="en-US" sz="2200" b="1" spc="194">
              <a:solidFill>
                <a:srgbClr val="231F2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35" name="TextBox 6">
            <a:extLst>
              <a:ext uri="{FF2B5EF4-FFF2-40B4-BE49-F238E27FC236}">
                <a16:creationId xmlns:a16="http://schemas.microsoft.com/office/drawing/2014/main" id="{DB814689-F464-C725-2580-369FE7BE62D3}"/>
              </a:ext>
            </a:extLst>
          </p:cNvPr>
          <p:cNvSpPr txBox="1"/>
          <p:nvPr/>
        </p:nvSpPr>
        <p:spPr>
          <a:xfrm rot="5400000">
            <a:off x="13177739" y="7566273"/>
            <a:ext cx="8097687" cy="138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15"/>
              </a:lnSpc>
              <a:spcBef>
                <a:spcPct val="0"/>
              </a:spcBef>
            </a:pPr>
            <a:r>
              <a:rPr lang="en-US" sz="4400" b="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RHYTHM</a:t>
            </a:r>
          </a:p>
        </p:txBody>
      </p:sp>
      <p:sp>
        <p:nvSpPr>
          <p:cNvPr id="37" name="TextBox 6">
            <a:extLst>
              <a:ext uri="{FF2B5EF4-FFF2-40B4-BE49-F238E27FC236}">
                <a16:creationId xmlns:a16="http://schemas.microsoft.com/office/drawing/2014/main" id="{01B1D0FB-EA40-F22A-C130-1EB1F2AB74C8}"/>
              </a:ext>
            </a:extLst>
          </p:cNvPr>
          <p:cNvSpPr txBox="1"/>
          <p:nvPr/>
        </p:nvSpPr>
        <p:spPr>
          <a:xfrm rot="16200000">
            <a:off x="-3112129" y="4185162"/>
            <a:ext cx="8097687" cy="138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15"/>
              </a:lnSpc>
              <a:spcBef>
                <a:spcPct val="0"/>
              </a:spcBef>
            </a:pPr>
            <a:r>
              <a:rPr lang="en-US" sz="4400" b="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PITCH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6">
            <a:extLst>
              <a:ext uri="{FF2B5EF4-FFF2-40B4-BE49-F238E27FC236}">
                <a16:creationId xmlns:a16="http://schemas.microsoft.com/office/drawing/2014/main" id="{B40FCFDB-F294-3479-8490-A0B6F9EBF71D}"/>
              </a:ext>
            </a:extLst>
          </p:cNvPr>
          <p:cNvSpPr txBox="1"/>
          <p:nvPr/>
        </p:nvSpPr>
        <p:spPr>
          <a:xfrm>
            <a:off x="3500078" y="1638300"/>
            <a:ext cx="11287844" cy="4867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015"/>
              </a:lnSpc>
              <a:spcBef>
                <a:spcPct val="0"/>
              </a:spcBef>
            </a:pPr>
            <a:r>
              <a:rPr lang="en-US" sz="9400" b="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Record your scores on the </a:t>
            </a:r>
            <a:r>
              <a:rPr lang="en-US" sz="9400" b="1" u="sng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Excel Sheet!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B7A6B57A-3B43-A972-0083-310AB47559D9}"/>
              </a:ext>
            </a:extLst>
          </p:cNvPr>
          <p:cNvSpPr txBox="1"/>
          <p:nvPr/>
        </p:nvSpPr>
        <p:spPr>
          <a:xfrm>
            <a:off x="2122483" y="7446300"/>
            <a:ext cx="14043034" cy="1952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sz="2800" b="1" spc="223">
                <a:solidFill>
                  <a:srgbClr val="231F20"/>
                </a:solidFill>
                <a:latin typeface="Montserrat"/>
                <a:ea typeface="DM Sans"/>
                <a:cs typeface="DM Sans"/>
                <a:sym typeface="DM Sans"/>
              </a:rPr>
              <a:t>If you have musical training, answer a 1, and if not, answer 0.</a:t>
            </a:r>
          </a:p>
          <a:p>
            <a:pPr algn="ctr">
              <a:lnSpc>
                <a:spcPts val="3148"/>
              </a:lnSpc>
            </a:pPr>
            <a:endParaRPr lang="en-US" sz="2800" b="1" spc="223">
              <a:solidFill>
                <a:srgbClr val="231F20"/>
              </a:solidFill>
              <a:latin typeface="Montserrat"/>
              <a:ea typeface="DM Sans"/>
              <a:cs typeface="DM Sans"/>
            </a:endParaRPr>
          </a:p>
          <a:p>
            <a:pPr algn="ctr">
              <a:lnSpc>
                <a:spcPts val="3148"/>
              </a:lnSpc>
            </a:pPr>
            <a:r>
              <a:rPr lang="en-US" sz="2800" b="1" i="1" spc="223">
                <a:solidFill>
                  <a:srgbClr val="231F20"/>
                </a:solidFill>
                <a:latin typeface="Montserrat"/>
                <a:ea typeface="DM Sans"/>
                <a:cs typeface="DM Sans"/>
              </a:rPr>
              <a:t>Musical training counts as a year or more of consistent practice in a musical instrument(s) including physical, digital, or vocal.</a:t>
            </a:r>
            <a:endParaRPr lang="en-US" sz="2800" b="1" spc="223">
              <a:solidFill>
                <a:srgbClr val="231F20"/>
              </a:solidFill>
              <a:latin typeface="Montserrat"/>
              <a:ea typeface="DM Sans"/>
              <a:cs typeface="DM Sans"/>
            </a:endParaRPr>
          </a:p>
          <a:p>
            <a:pPr algn="ctr">
              <a:lnSpc>
                <a:spcPts val="2734"/>
              </a:lnSpc>
            </a:pPr>
            <a:endParaRPr lang="en-US" sz="2800" spc="223">
              <a:solidFill>
                <a:srgbClr val="231F20"/>
              </a:solidFill>
              <a:latin typeface="DM Sans"/>
              <a:ea typeface="DM Sans"/>
              <a:cs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B8BF3-427B-EE95-E328-2D5703550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30E5F46-1546-743D-89C7-45854796868E}"/>
              </a:ext>
            </a:extLst>
          </p:cNvPr>
          <p:cNvGrpSpPr/>
          <p:nvPr/>
        </p:nvGrpSpPr>
        <p:grpSpPr>
          <a:xfrm>
            <a:off x="0" y="0"/>
            <a:ext cx="18288000" cy="3086100"/>
            <a:chOff x="0" y="0"/>
            <a:chExt cx="4816593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3408BA1-999E-6917-5C5B-1CFFCD6BA98E}"/>
                </a:ext>
              </a:extLst>
            </p:cNvPr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E507723-771D-D1E4-6B0A-78E521250E75}"/>
                </a:ext>
              </a:extLst>
            </p:cNvPr>
            <p:cNvSpPr txBox="1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TextBox 21">
            <a:extLst>
              <a:ext uri="{FF2B5EF4-FFF2-40B4-BE49-F238E27FC236}">
                <a16:creationId xmlns:a16="http://schemas.microsoft.com/office/drawing/2014/main" id="{375DB524-9C83-B0A0-C252-34C78C89C711}"/>
              </a:ext>
            </a:extLst>
          </p:cNvPr>
          <p:cNvSpPr txBox="1"/>
          <p:nvPr/>
        </p:nvSpPr>
        <p:spPr>
          <a:xfrm>
            <a:off x="3690980" y="801425"/>
            <a:ext cx="10906040" cy="1349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sz="8030" b="1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DATA EXPEDITION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FC270EFD-7A71-3E80-963F-11032A9D73FF}"/>
              </a:ext>
            </a:extLst>
          </p:cNvPr>
          <p:cNvSpPr txBox="1"/>
          <p:nvPr/>
        </p:nvSpPr>
        <p:spPr>
          <a:xfrm>
            <a:off x="2695980" y="3824919"/>
            <a:ext cx="12497753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4400" b="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Download and open your templates!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384403EE-A712-614C-2C9C-7F1984F4DB52}"/>
              </a:ext>
            </a:extLst>
          </p:cNvPr>
          <p:cNvSpPr txBox="1"/>
          <p:nvPr/>
        </p:nvSpPr>
        <p:spPr>
          <a:xfrm>
            <a:off x="1171215" y="5619201"/>
            <a:ext cx="660626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600" b="1" spc="924">
                <a:solidFill>
                  <a:srgbClr val="231F20"/>
                </a:solidFill>
                <a:latin typeface="DM Sans"/>
                <a:ea typeface="Oswald Bold"/>
                <a:cs typeface="Oswald Bold"/>
                <a:sym typeface="Oswald Bold"/>
              </a:rPr>
              <a:t>Homework questions in a </a:t>
            </a:r>
            <a:r>
              <a:rPr lang="en-US" sz="3600" b="1" u="sng" spc="924">
                <a:solidFill>
                  <a:srgbClr val="231F20"/>
                </a:solidFill>
                <a:latin typeface="DM Sans"/>
                <a:ea typeface="Oswald Bold"/>
                <a:cs typeface="Oswald Bold"/>
                <a:sym typeface="Oswald Bold"/>
              </a:rPr>
              <a:t>word document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E863F455-83A3-3252-74DE-C6B641307282}"/>
              </a:ext>
            </a:extLst>
          </p:cNvPr>
          <p:cNvSpPr txBox="1"/>
          <p:nvPr/>
        </p:nvSpPr>
        <p:spPr>
          <a:xfrm>
            <a:off x="2124955" y="8808849"/>
            <a:ext cx="13639801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600" b="1" spc="924">
                <a:solidFill>
                  <a:srgbClr val="231F20"/>
                </a:solidFill>
                <a:latin typeface="DM Sans"/>
                <a:ea typeface="Oswald Bold"/>
                <a:cs typeface="Oswald Bold"/>
              </a:rPr>
              <a:t>Live Coding to Begin Shortly...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5903C808-C2A2-6E68-04D1-4542B6D2D5B4}"/>
              </a:ext>
            </a:extLst>
          </p:cNvPr>
          <p:cNvSpPr txBox="1"/>
          <p:nvPr/>
        </p:nvSpPr>
        <p:spPr>
          <a:xfrm>
            <a:off x="9306355" y="5619201"/>
            <a:ext cx="731726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3600" b="1" spc="924">
                <a:solidFill>
                  <a:srgbClr val="231F20"/>
                </a:solidFill>
                <a:latin typeface="DM Sans"/>
                <a:ea typeface="Oswald Bold"/>
                <a:cs typeface="Oswald Bold"/>
                <a:sym typeface="Oswald Bold"/>
              </a:rPr>
              <a:t>Code in an </a:t>
            </a:r>
            <a:r>
              <a:rPr lang="en-US" sz="3600" b="1" u="sng" spc="924">
                <a:solidFill>
                  <a:srgbClr val="231F20"/>
                </a:solidFill>
                <a:latin typeface="DM Sans"/>
                <a:ea typeface="Oswald Bold"/>
                <a:cs typeface="Oswald Bold"/>
                <a:sym typeface="Oswald Bold"/>
              </a:rPr>
              <a:t>R Markdown document</a:t>
            </a:r>
          </a:p>
        </p:txBody>
      </p:sp>
    </p:spTree>
    <p:extLst>
      <p:ext uri="{BB962C8B-B14F-4D97-AF65-F5344CB8AC3E}">
        <p14:creationId xmlns:p14="http://schemas.microsoft.com/office/powerpoint/2010/main" val="3629307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10D0A-29DD-AEF6-AFD5-1DB7DF7F7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5E294A-0210-A92C-2C77-FB2E9524B88B}"/>
              </a:ext>
            </a:extLst>
          </p:cNvPr>
          <p:cNvGrpSpPr/>
          <p:nvPr/>
        </p:nvGrpSpPr>
        <p:grpSpPr>
          <a:xfrm>
            <a:off x="0" y="0"/>
            <a:ext cx="18288000" cy="3086100"/>
            <a:chOff x="0" y="0"/>
            <a:chExt cx="4816593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EBE5B5E-2A97-4F1C-787D-DFCCB7423099}"/>
                </a:ext>
              </a:extLst>
            </p:cNvPr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7A25D05-F1F8-4701-C2A5-3F33A3986D1E}"/>
                </a:ext>
              </a:extLst>
            </p:cNvPr>
            <p:cNvSpPr txBox="1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TextBox 21">
            <a:extLst>
              <a:ext uri="{FF2B5EF4-FFF2-40B4-BE49-F238E27FC236}">
                <a16:creationId xmlns:a16="http://schemas.microsoft.com/office/drawing/2014/main" id="{F1F9EB4C-3620-96D1-FC71-5880DDA64E1D}"/>
              </a:ext>
            </a:extLst>
          </p:cNvPr>
          <p:cNvSpPr txBox="1"/>
          <p:nvPr/>
        </p:nvSpPr>
        <p:spPr>
          <a:xfrm>
            <a:off x="3690980" y="801425"/>
            <a:ext cx="10906040" cy="1349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sz="8030" b="1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DATA EXPEDITION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F577297C-BDF8-5AFF-6138-42F11535E142}"/>
              </a:ext>
            </a:extLst>
          </p:cNvPr>
          <p:cNvSpPr txBox="1"/>
          <p:nvPr/>
        </p:nvSpPr>
        <p:spPr>
          <a:xfrm>
            <a:off x="3351847" y="3644919"/>
            <a:ext cx="11186020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400" b="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Develop your hypotheses for these questions:</a:t>
            </a:r>
          </a:p>
          <a:p>
            <a:pPr algn="ctr">
              <a:spcBef>
                <a:spcPct val="0"/>
              </a:spcBef>
            </a:pPr>
            <a:r>
              <a:rPr lang="en-US" sz="2400" b="1" spc="924">
                <a:solidFill>
                  <a:srgbClr val="231F20"/>
                </a:solidFill>
                <a:latin typeface="Oswald Bold"/>
                <a:ea typeface="Oswald Bold"/>
                <a:cs typeface="Oswald Bold"/>
              </a:rPr>
              <a:t>(write them in your homework document)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65FDB7A9-FC92-09A5-07B0-C02E79F42937}"/>
              </a:ext>
            </a:extLst>
          </p:cNvPr>
          <p:cNvSpPr txBox="1"/>
          <p:nvPr/>
        </p:nvSpPr>
        <p:spPr>
          <a:xfrm>
            <a:off x="357915" y="6145803"/>
            <a:ext cx="660626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ctr">
              <a:spcBef>
                <a:spcPct val="0"/>
              </a:spcBef>
              <a:buAutoNum type="arabicPeriod"/>
            </a:pPr>
            <a:r>
              <a:rPr lang="en-US" sz="3600" b="1" spc="924">
                <a:solidFill>
                  <a:srgbClr val="231F20"/>
                </a:solidFill>
                <a:latin typeface="DM Sans"/>
                <a:ea typeface="Oswald Bold"/>
                <a:cs typeface="Oswald Bold"/>
                <a:sym typeface="Oswald Bold"/>
              </a:rPr>
              <a:t>Does practice improve rhythm?</a:t>
            </a:r>
            <a:endParaRPr lang="en-US"/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F4C34AA2-9DEB-D9A0-A963-02E28931BEFB}"/>
              </a:ext>
            </a:extLst>
          </p:cNvPr>
          <p:cNvSpPr txBox="1"/>
          <p:nvPr/>
        </p:nvSpPr>
        <p:spPr>
          <a:xfrm>
            <a:off x="8642428" y="6147118"/>
            <a:ext cx="9428187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600" b="1" spc="924">
                <a:solidFill>
                  <a:srgbClr val="231F20"/>
                </a:solidFill>
                <a:latin typeface="DM Sans"/>
                <a:ea typeface="Calibri"/>
                <a:cs typeface="Calibri"/>
                <a:sym typeface="Oswald Bold"/>
              </a:rPr>
              <a:t>2. Is there a relationship between rhythm and pitch?</a:t>
            </a:r>
            <a:endParaRPr lang="en-US" b="1">
              <a:latin typeface="DM Sans"/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B312FACC-3D2E-D020-4ABE-6C931C8758EF}"/>
              </a:ext>
            </a:extLst>
          </p:cNvPr>
          <p:cNvSpPr txBox="1"/>
          <p:nvPr/>
        </p:nvSpPr>
        <p:spPr>
          <a:xfrm>
            <a:off x="4582800" y="7914352"/>
            <a:ext cx="9126213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600" b="1" spc="924">
                <a:solidFill>
                  <a:srgbClr val="231F20"/>
                </a:solidFill>
                <a:latin typeface="DM Sans"/>
                <a:ea typeface="Calibri"/>
                <a:cs typeface="Calibri"/>
                <a:sym typeface="Oswald Bold"/>
              </a:rPr>
              <a:t>3. Can we predict who has musical experience from their rhythm/pitch scores?</a:t>
            </a:r>
            <a:endParaRPr lang="en-US" b="1"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677873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07A90-ED27-5726-2A77-F5CEF245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09719A4-8B6C-2100-863D-2A17E9F34D6F}"/>
              </a:ext>
            </a:extLst>
          </p:cNvPr>
          <p:cNvSpPr/>
          <p:nvPr/>
        </p:nvSpPr>
        <p:spPr>
          <a:xfrm flipH="1" flipV="1">
            <a:off x="0" y="-1970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 lIns="91440" tIns="45720" rIns="91440" bIns="45720" anchor="t"/>
          <a:lstStyle/>
          <a:p>
            <a:endParaRPr lang="en-US"/>
          </a:p>
        </p:txBody>
      </p:sp>
      <p:grpSp>
        <p:nvGrpSpPr>
          <p:cNvPr id="41" name="Group 2">
            <a:extLst>
              <a:ext uri="{FF2B5EF4-FFF2-40B4-BE49-F238E27FC236}">
                <a16:creationId xmlns:a16="http://schemas.microsoft.com/office/drawing/2014/main" id="{9785F77A-8C2F-227D-418D-E889F697855E}"/>
              </a:ext>
            </a:extLst>
          </p:cNvPr>
          <p:cNvGrpSpPr/>
          <p:nvPr/>
        </p:nvGrpSpPr>
        <p:grpSpPr>
          <a:xfrm rot="10800000">
            <a:off x="8305800" y="952499"/>
            <a:ext cx="9982200" cy="9552376"/>
            <a:chOff x="0" y="0"/>
            <a:chExt cx="4816593" cy="812800"/>
          </a:xfr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rgbClr val="F2F4F5"/>
              </a:gs>
            </a:gsLst>
            <a:lin ang="4200000" scaled="0"/>
          </a:gradFill>
        </p:grpSpPr>
        <p:sp>
          <p:nvSpPr>
            <p:cNvPr id="42" name="Freeform 3">
              <a:extLst>
                <a:ext uri="{FF2B5EF4-FFF2-40B4-BE49-F238E27FC236}">
                  <a16:creationId xmlns:a16="http://schemas.microsoft.com/office/drawing/2014/main" id="{67EBAAA8-F40A-8326-2715-A384478FC3F1}"/>
                </a:ext>
              </a:extLst>
            </p:cNvPr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">
              <a:extLst>
                <a:ext uri="{FF2B5EF4-FFF2-40B4-BE49-F238E27FC236}">
                  <a16:creationId xmlns:a16="http://schemas.microsoft.com/office/drawing/2014/main" id="{58342632-17D7-99AD-2B1A-457EC378BD7E}"/>
                </a:ext>
              </a:extLst>
            </p:cNvPr>
            <p:cNvSpPr txBox="1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6" name="TextBox 21">
            <a:extLst>
              <a:ext uri="{FF2B5EF4-FFF2-40B4-BE49-F238E27FC236}">
                <a16:creationId xmlns:a16="http://schemas.microsoft.com/office/drawing/2014/main" id="{4773D21B-5A68-DD45-4E9D-6A0CF4151E1E}"/>
              </a:ext>
            </a:extLst>
          </p:cNvPr>
          <p:cNvSpPr txBox="1"/>
          <p:nvPr/>
        </p:nvSpPr>
        <p:spPr>
          <a:xfrm>
            <a:off x="2569390" y="876300"/>
            <a:ext cx="13149220" cy="1423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sz="9600" b="1" spc="786">
                <a:latin typeface="Oswald Bold"/>
                <a:ea typeface="Oswald Bold"/>
                <a:cs typeface="Oswald Bold"/>
                <a:sym typeface="Oswald Bold"/>
              </a:rPr>
              <a:t>PAPER DISCUSSION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112268DE-4F74-045A-717B-232763FC17BD}"/>
              </a:ext>
            </a:extLst>
          </p:cNvPr>
          <p:cNvSpPr txBox="1"/>
          <p:nvPr/>
        </p:nvSpPr>
        <p:spPr>
          <a:xfrm>
            <a:off x="661996" y="3155738"/>
            <a:ext cx="660626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spc="924">
                <a:solidFill>
                  <a:srgbClr val="231F20"/>
                </a:solidFill>
                <a:latin typeface="DM Sans"/>
                <a:ea typeface="Oswald Bold"/>
                <a:cs typeface="Oswald Bold"/>
                <a:sym typeface="Oswald Bold"/>
              </a:rPr>
              <a:t>Liu et al. 2023</a:t>
            </a:r>
            <a:endParaRPr lang="en-US" sz="3600" spc="924">
              <a:solidFill>
                <a:srgbClr val="000000"/>
              </a:solidFill>
              <a:latin typeface="DM Sans"/>
              <a:ea typeface="Oswald Bold"/>
              <a:cs typeface="Oswald Bold"/>
              <a:sym typeface="Oswald Bold"/>
            </a:endParaRPr>
          </a:p>
          <a:p>
            <a:pPr marL="0" lvl="0" indent="0">
              <a:spcBef>
                <a:spcPct val="0"/>
              </a:spcBef>
            </a:pPr>
            <a:endParaRPr lang="en-US" sz="3600" b="1" spc="924">
              <a:solidFill>
                <a:srgbClr val="231F20"/>
              </a:solidFill>
              <a:latin typeface="DM Sans"/>
              <a:ea typeface="Oswald Bold"/>
              <a:cs typeface="Oswald Bold"/>
            </a:endParaRPr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C2C7DCC8-EDB2-AE6C-F75D-F15139E7108D}"/>
              </a:ext>
            </a:extLst>
          </p:cNvPr>
          <p:cNvSpPr txBox="1"/>
          <p:nvPr/>
        </p:nvSpPr>
        <p:spPr>
          <a:xfrm>
            <a:off x="661996" y="7151879"/>
            <a:ext cx="660626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3600" b="1" spc="924">
                <a:solidFill>
                  <a:srgbClr val="231F20"/>
                </a:solidFill>
                <a:latin typeface="DM Sans"/>
                <a:sym typeface="Oswald Bold"/>
              </a:rPr>
              <a:t>Pinelli et al., 2024</a:t>
            </a:r>
            <a:endParaRPr 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989E8232-2553-3BD2-D3B1-5820DACC7E37}"/>
              </a:ext>
            </a:extLst>
          </p:cNvPr>
          <p:cNvSpPr txBox="1"/>
          <p:nvPr/>
        </p:nvSpPr>
        <p:spPr>
          <a:xfrm>
            <a:off x="661996" y="9073264"/>
            <a:ext cx="77724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spcBef>
                <a:spcPct val="0"/>
              </a:spcBef>
            </a:pPr>
            <a:r>
              <a:rPr lang="en-US" sz="3600" b="1" spc="924">
                <a:solidFill>
                  <a:srgbClr val="231F20"/>
                </a:solidFill>
                <a:latin typeface="DM Sans"/>
                <a:ea typeface="Oswald Bold"/>
                <a:cs typeface="Oswald Bold"/>
                <a:sym typeface="Oswald Bold"/>
              </a:rPr>
              <a:t>Drake &amp; Palmer 2000</a:t>
            </a: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40327127-34FD-ED68-2877-9E4F5563DC5C}"/>
              </a:ext>
            </a:extLst>
          </p:cNvPr>
          <p:cNvSpPr txBox="1"/>
          <p:nvPr/>
        </p:nvSpPr>
        <p:spPr>
          <a:xfrm>
            <a:off x="659937" y="5126113"/>
            <a:ext cx="77724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spcBef>
                <a:spcPct val="0"/>
              </a:spcBef>
            </a:pPr>
            <a:r>
              <a:rPr lang="en-US" sz="3600" b="1" spc="924">
                <a:solidFill>
                  <a:srgbClr val="231F20"/>
                </a:solidFill>
                <a:latin typeface="DM Sans"/>
                <a:ea typeface="Oswald Bold"/>
                <a:cs typeface="Oswald Bold"/>
                <a:sym typeface="Oswald Bold"/>
              </a:rPr>
              <a:t>Naguib et al. 2008</a:t>
            </a: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086DEE80-B438-A21F-BDFB-92A692DDCF2A}"/>
              </a:ext>
            </a:extLst>
          </p:cNvPr>
          <p:cNvSpPr txBox="1"/>
          <p:nvPr/>
        </p:nvSpPr>
        <p:spPr>
          <a:xfrm>
            <a:off x="9144000" y="3152360"/>
            <a:ext cx="8329045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600" b="1" spc="924">
                <a:solidFill>
                  <a:srgbClr val="231F20"/>
                </a:solidFill>
                <a:latin typeface="DM Sans"/>
                <a:sym typeface="Oswald Bold"/>
              </a:rPr>
              <a:t>What:</a:t>
            </a:r>
          </a:p>
          <a:p>
            <a:pPr algn="ctr">
              <a:spcBef>
                <a:spcPct val="0"/>
              </a:spcBef>
            </a:pPr>
            <a:endParaRPr lang="en-US" sz="3600" b="1" spc="924">
              <a:solidFill>
                <a:srgbClr val="231F20"/>
              </a:solidFill>
              <a:latin typeface="DM Sans"/>
            </a:endParaRPr>
          </a:p>
          <a:p>
            <a:pPr marL="571500" indent="-571500">
              <a:spcBef>
                <a:spcPct val="0"/>
              </a:spcBef>
              <a:buFont typeface="Arial"/>
              <a:buChar char="•"/>
            </a:pPr>
            <a:r>
              <a:rPr lang="en-US" sz="3600" b="1" spc="924">
                <a:solidFill>
                  <a:srgbClr val="231F20"/>
                </a:solidFill>
                <a:latin typeface="DM Sans"/>
              </a:rPr>
              <a:t>is the context?</a:t>
            </a:r>
          </a:p>
          <a:p>
            <a:pPr marL="571500" indent="-571500">
              <a:spcBef>
                <a:spcPct val="0"/>
              </a:spcBef>
              <a:buFont typeface="Arial"/>
              <a:buChar char="•"/>
            </a:pPr>
            <a:r>
              <a:rPr lang="en-US" sz="3600" b="1" spc="924">
                <a:solidFill>
                  <a:srgbClr val="014374"/>
                </a:solidFill>
                <a:latin typeface="DM Sans"/>
              </a:rPr>
              <a:t>did they actually do?</a:t>
            </a:r>
          </a:p>
          <a:p>
            <a:pPr marL="571500" indent="-571500">
              <a:spcBef>
                <a:spcPct val="0"/>
              </a:spcBef>
              <a:buFont typeface="Arial"/>
              <a:buChar char="•"/>
            </a:pPr>
            <a:r>
              <a:rPr lang="en-US" sz="3600" b="1" spc="924">
                <a:solidFill>
                  <a:srgbClr val="231F20"/>
                </a:solidFill>
                <a:latin typeface="DM Sans"/>
              </a:rPr>
              <a:t>are their claims?</a:t>
            </a:r>
          </a:p>
          <a:p>
            <a:pPr marL="571500" indent="-571500">
              <a:spcBef>
                <a:spcPct val="0"/>
              </a:spcBef>
              <a:buFont typeface="Arial"/>
              <a:buChar char="•"/>
            </a:pPr>
            <a:r>
              <a:rPr lang="en-US" sz="3600" b="1" spc="924">
                <a:solidFill>
                  <a:srgbClr val="014374"/>
                </a:solidFill>
                <a:latin typeface="DM Sans"/>
              </a:rPr>
              <a:t>do you think is actually supported?</a:t>
            </a:r>
          </a:p>
          <a:p>
            <a:pPr marL="571500" indent="-571500">
              <a:spcBef>
                <a:spcPct val="0"/>
              </a:spcBef>
              <a:buFont typeface="Arial"/>
              <a:buChar char="•"/>
            </a:pPr>
            <a:r>
              <a:rPr lang="en-US" sz="3600" b="1" spc="924">
                <a:solidFill>
                  <a:srgbClr val="231F20"/>
                </a:solidFill>
                <a:latin typeface="DM Sans"/>
              </a:rPr>
              <a:t>are the logical next steps?</a:t>
            </a:r>
          </a:p>
          <a:p>
            <a:pPr marL="571500" indent="-571500">
              <a:spcBef>
                <a:spcPct val="0"/>
              </a:spcBef>
              <a:buFont typeface="Arial"/>
              <a:buChar char="•"/>
            </a:pPr>
            <a:endParaRPr lang="en-US" sz="3600" b="1" spc="924">
              <a:solidFill>
                <a:srgbClr val="231F20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4090871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B35F8-E176-B612-237D-095BA7F3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">
            <a:extLst>
              <a:ext uri="{FF2B5EF4-FFF2-40B4-BE49-F238E27FC236}">
                <a16:creationId xmlns:a16="http://schemas.microsoft.com/office/drawing/2014/main" id="{2EDAD008-1E20-7E6C-965A-04628DCC6A2C}"/>
              </a:ext>
            </a:extLst>
          </p:cNvPr>
          <p:cNvSpPr txBox="1"/>
          <p:nvPr/>
        </p:nvSpPr>
        <p:spPr>
          <a:xfrm>
            <a:off x="152400" y="1714500"/>
            <a:ext cx="18745200" cy="5822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26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400" b="1" i="0" u="none" strike="noStrike" kern="1200" cap="none" spc="161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Oswald Bold"/>
                <a:ea typeface="Oswald Bold"/>
                <a:cs typeface="Oswald Bold"/>
                <a:sym typeface="Oswald Bold"/>
              </a:rPr>
              <a:t>WHAT COUNTS </a:t>
            </a:r>
          </a:p>
          <a:p>
            <a:pPr marL="0" marR="0" lvl="0" indent="0" algn="ctr" defTabSz="914400" rtl="0" eaLnBrk="1" fontAlgn="auto" latinLnBrk="0" hangingPunct="1">
              <a:lnSpc>
                <a:spcPts val="226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600" b="1" i="0" u="none" strike="noStrike" kern="1200" cap="none" spc="161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Oswald Bold"/>
                <a:ea typeface="Oswald Bold"/>
                <a:cs typeface="Oswald Bold"/>
                <a:sym typeface="Oswald Bold"/>
              </a:rPr>
              <a:t>AS </a:t>
            </a:r>
            <a:r>
              <a:rPr kumimoji="0" lang="en-US" sz="23600" b="1" i="0" u="sng" strike="noStrike" kern="1200" cap="none" spc="16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 Bold"/>
                <a:ea typeface="Oswald Bold"/>
                <a:cs typeface="Oswald Bold"/>
                <a:sym typeface="Oswald Bold"/>
              </a:rPr>
              <a:t>MUSIC</a:t>
            </a:r>
            <a:r>
              <a:rPr kumimoji="0" lang="en-US" sz="23600" b="1" i="0" u="none" strike="noStrike" kern="1200" cap="none" spc="161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Oswald Bold"/>
                <a:ea typeface="Oswald Bold"/>
                <a:cs typeface="Oswald Bold"/>
                <a:sym typeface="Oswald Bold"/>
              </a:rPr>
              <a:t>?</a:t>
            </a:r>
            <a:endParaRPr kumimoji="0" lang="en-US" sz="16437" b="1" i="0" u="none" strike="noStrike" kern="1200" cap="none" spc="161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B41FEB-F50B-CEE5-3732-3995551E25EA}"/>
              </a:ext>
            </a:extLst>
          </p:cNvPr>
          <p:cNvSpPr txBox="1"/>
          <p:nvPr/>
        </p:nvSpPr>
        <p:spPr>
          <a:xfrm>
            <a:off x="6191335" y="4339163"/>
            <a:ext cx="9010649" cy="2844308"/>
          </a:xfrm>
          <a:custGeom>
            <a:avLst/>
            <a:gdLst/>
            <a:ahLst/>
            <a:cxnLst/>
            <a:rect l="l" t="t" r="r" b="b"/>
            <a:pathLst>
              <a:path w="9010649" h="2844308">
                <a:moveTo>
                  <a:pt x="0" y="2691908"/>
                </a:moveTo>
                <a:lnTo>
                  <a:pt x="2252662" y="2691908"/>
                </a:lnTo>
                <a:lnTo>
                  <a:pt x="4505325" y="2691908"/>
                </a:lnTo>
                <a:lnTo>
                  <a:pt x="6757987" y="2691908"/>
                </a:lnTo>
                <a:lnTo>
                  <a:pt x="9010649" y="2691908"/>
                </a:lnTo>
                <a:lnTo>
                  <a:pt x="9010649" y="2844308"/>
                </a:lnTo>
                <a:lnTo>
                  <a:pt x="6757987" y="2844308"/>
                </a:lnTo>
                <a:lnTo>
                  <a:pt x="4505325" y="2844308"/>
                </a:lnTo>
                <a:lnTo>
                  <a:pt x="2252662" y="2844308"/>
                </a:lnTo>
                <a:lnTo>
                  <a:pt x="0" y="2844308"/>
                </a:lnTo>
                <a:close/>
                <a:moveTo>
                  <a:pt x="6202822" y="33004"/>
                </a:moveTo>
                <a:lnTo>
                  <a:pt x="6739889" y="33004"/>
                </a:lnTo>
                <a:lnTo>
                  <a:pt x="6739889" y="2463308"/>
                </a:lnTo>
                <a:lnTo>
                  <a:pt x="6202822" y="2463308"/>
                </a:lnTo>
                <a:close/>
                <a:moveTo>
                  <a:pt x="2476595" y="33004"/>
                </a:moveTo>
                <a:lnTo>
                  <a:pt x="3007662" y="33004"/>
                </a:lnTo>
                <a:lnTo>
                  <a:pt x="3007662" y="1791224"/>
                </a:lnTo>
                <a:cubicBezTo>
                  <a:pt x="3007662" y="1889237"/>
                  <a:pt x="3020163" y="1967246"/>
                  <a:pt x="3045166" y="2025253"/>
                </a:cubicBezTo>
                <a:cubicBezTo>
                  <a:pt x="3070169" y="2083261"/>
                  <a:pt x="3120676" y="2112264"/>
                  <a:pt x="3196685" y="2112264"/>
                </a:cubicBezTo>
                <a:cubicBezTo>
                  <a:pt x="3272695" y="2112264"/>
                  <a:pt x="3322701" y="2083261"/>
                  <a:pt x="3346704" y="2025253"/>
                </a:cubicBezTo>
                <a:cubicBezTo>
                  <a:pt x="3370707" y="1967246"/>
                  <a:pt x="3382709" y="1889237"/>
                  <a:pt x="3382709" y="1791224"/>
                </a:cubicBezTo>
                <a:lnTo>
                  <a:pt x="3382709" y="33004"/>
                </a:lnTo>
                <a:lnTo>
                  <a:pt x="3916775" y="33004"/>
                </a:lnTo>
                <a:lnTo>
                  <a:pt x="3916775" y="1710214"/>
                </a:lnTo>
                <a:cubicBezTo>
                  <a:pt x="3916775" y="1888236"/>
                  <a:pt x="3894772" y="2034755"/>
                  <a:pt x="3850767" y="2149769"/>
                </a:cubicBezTo>
                <a:cubicBezTo>
                  <a:pt x="3806761" y="2264783"/>
                  <a:pt x="3732252" y="2351794"/>
                  <a:pt x="3627239" y="2410802"/>
                </a:cubicBezTo>
                <a:cubicBezTo>
                  <a:pt x="3522225" y="2469809"/>
                  <a:pt x="3378707" y="2499313"/>
                  <a:pt x="3196685" y="2499313"/>
                </a:cubicBezTo>
                <a:cubicBezTo>
                  <a:pt x="3014662" y="2499313"/>
                  <a:pt x="2870644" y="2469809"/>
                  <a:pt x="2764631" y="2410802"/>
                </a:cubicBezTo>
                <a:cubicBezTo>
                  <a:pt x="2658618" y="2351794"/>
                  <a:pt x="2584108" y="2264783"/>
                  <a:pt x="2541103" y="2149769"/>
                </a:cubicBezTo>
                <a:cubicBezTo>
                  <a:pt x="2498097" y="2034755"/>
                  <a:pt x="2476595" y="1888236"/>
                  <a:pt x="2476595" y="1710214"/>
                </a:cubicBezTo>
                <a:close/>
                <a:moveTo>
                  <a:pt x="213026" y="33004"/>
                </a:moveTo>
                <a:lnTo>
                  <a:pt x="789099" y="33004"/>
                </a:lnTo>
                <a:lnTo>
                  <a:pt x="1056132" y="1446181"/>
                </a:lnTo>
                <a:lnTo>
                  <a:pt x="1344168" y="33004"/>
                </a:lnTo>
                <a:lnTo>
                  <a:pt x="1899237" y="33004"/>
                </a:lnTo>
                <a:lnTo>
                  <a:pt x="1941242" y="2463308"/>
                </a:lnTo>
                <a:lnTo>
                  <a:pt x="1560195" y="2463308"/>
                </a:lnTo>
                <a:lnTo>
                  <a:pt x="1515189" y="846106"/>
                </a:lnTo>
                <a:lnTo>
                  <a:pt x="1233154" y="2463308"/>
                </a:lnTo>
                <a:lnTo>
                  <a:pt x="894112" y="2463308"/>
                </a:lnTo>
                <a:lnTo>
                  <a:pt x="594074" y="834105"/>
                </a:lnTo>
                <a:lnTo>
                  <a:pt x="558070" y="2463308"/>
                </a:lnTo>
                <a:lnTo>
                  <a:pt x="171021" y="2463308"/>
                </a:lnTo>
                <a:close/>
                <a:moveTo>
                  <a:pt x="8000809" y="0"/>
                </a:moveTo>
                <a:cubicBezTo>
                  <a:pt x="8254840" y="0"/>
                  <a:pt x="8434863" y="61007"/>
                  <a:pt x="8540877" y="183023"/>
                </a:cubicBezTo>
                <a:cubicBezTo>
                  <a:pt x="8646890" y="305039"/>
                  <a:pt x="8699896" y="478060"/>
                  <a:pt x="8699896" y="702088"/>
                </a:cubicBezTo>
                <a:lnTo>
                  <a:pt x="8699896" y="912114"/>
                </a:lnTo>
                <a:lnTo>
                  <a:pt x="8174831" y="912114"/>
                </a:lnTo>
                <a:lnTo>
                  <a:pt x="8174831" y="669084"/>
                </a:lnTo>
                <a:cubicBezTo>
                  <a:pt x="8174831" y="575072"/>
                  <a:pt x="8164829" y="503063"/>
                  <a:pt x="8144827" y="453057"/>
                </a:cubicBezTo>
                <a:cubicBezTo>
                  <a:pt x="8124825" y="403051"/>
                  <a:pt x="8076819" y="378048"/>
                  <a:pt x="8000809" y="378048"/>
                </a:cubicBezTo>
                <a:cubicBezTo>
                  <a:pt x="7924799" y="378048"/>
                  <a:pt x="7874793" y="404551"/>
                  <a:pt x="7850791" y="457558"/>
                </a:cubicBezTo>
                <a:cubicBezTo>
                  <a:pt x="7826787" y="510564"/>
                  <a:pt x="7814785" y="584073"/>
                  <a:pt x="7814785" y="678085"/>
                </a:cubicBezTo>
                <a:lnTo>
                  <a:pt x="7814785" y="1821228"/>
                </a:lnTo>
                <a:cubicBezTo>
                  <a:pt x="7814785" y="1917240"/>
                  <a:pt x="7827287" y="1990749"/>
                  <a:pt x="7852291" y="2041755"/>
                </a:cubicBezTo>
                <a:cubicBezTo>
                  <a:pt x="7877293" y="2092762"/>
                  <a:pt x="7926800" y="2118265"/>
                  <a:pt x="8000809" y="2118265"/>
                </a:cubicBezTo>
                <a:cubicBezTo>
                  <a:pt x="8074818" y="2118265"/>
                  <a:pt x="8122325" y="2092762"/>
                  <a:pt x="8143327" y="2041755"/>
                </a:cubicBezTo>
                <a:cubicBezTo>
                  <a:pt x="8164329" y="1990749"/>
                  <a:pt x="8174831" y="1917240"/>
                  <a:pt x="8174831" y="1821228"/>
                </a:cubicBezTo>
                <a:lnTo>
                  <a:pt x="8174831" y="1566196"/>
                </a:lnTo>
                <a:lnTo>
                  <a:pt x="8699896" y="1566196"/>
                </a:lnTo>
                <a:lnTo>
                  <a:pt x="8699896" y="1776222"/>
                </a:lnTo>
                <a:cubicBezTo>
                  <a:pt x="8699896" y="2004251"/>
                  <a:pt x="8646890" y="2181773"/>
                  <a:pt x="8540877" y="2308789"/>
                </a:cubicBezTo>
                <a:cubicBezTo>
                  <a:pt x="8434863" y="2435805"/>
                  <a:pt x="8254840" y="2499313"/>
                  <a:pt x="8000809" y="2499313"/>
                </a:cubicBezTo>
                <a:cubicBezTo>
                  <a:pt x="7736776" y="2499313"/>
                  <a:pt x="7549253" y="2429804"/>
                  <a:pt x="7438239" y="2290787"/>
                </a:cubicBezTo>
                <a:cubicBezTo>
                  <a:pt x="7327225" y="2151769"/>
                  <a:pt x="7271718" y="1951244"/>
                  <a:pt x="7271718" y="1689212"/>
                </a:cubicBezTo>
                <a:lnTo>
                  <a:pt x="7271718" y="813102"/>
                </a:lnTo>
                <a:cubicBezTo>
                  <a:pt x="7271718" y="545068"/>
                  <a:pt x="7326725" y="342543"/>
                  <a:pt x="7436739" y="205526"/>
                </a:cubicBezTo>
                <a:cubicBezTo>
                  <a:pt x="7546752" y="68508"/>
                  <a:pt x="7734775" y="0"/>
                  <a:pt x="8000809" y="0"/>
                </a:cubicBezTo>
                <a:close/>
                <a:moveTo>
                  <a:pt x="5086825" y="0"/>
                </a:moveTo>
                <a:cubicBezTo>
                  <a:pt x="5316855" y="0"/>
                  <a:pt x="5473374" y="67008"/>
                  <a:pt x="5556385" y="201025"/>
                </a:cubicBezTo>
                <a:cubicBezTo>
                  <a:pt x="5639395" y="335042"/>
                  <a:pt x="5683900" y="498063"/>
                  <a:pt x="5689901" y="690087"/>
                </a:cubicBezTo>
                <a:lnTo>
                  <a:pt x="5227843" y="747094"/>
                </a:lnTo>
                <a:cubicBezTo>
                  <a:pt x="5223843" y="621078"/>
                  <a:pt x="5212341" y="530567"/>
                  <a:pt x="5193339" y="475560"/>
                </a:cubicBezTo>
                <a:cubicBezTo>
                  <a:pt x="5174337" y="420553"/>
                  <a:pt x="5132831" y="393049"/>
                  <a:pt x="5068823" y="393049"/>
                </a:cubicBezTo>
                <a:cubicBezTo>
                  <a:pt x="5022817" y="393049"/>
                  <a:pt x="4987313" y="412552"/>
                  <a:pt x="4962310" y="451557"/>
                </a:cubicBezTo>
                <a:cubicBezTo>
                  <a:pt x="4937307" y="490562"/>
                  <a:pt x="4924805" y="534067"/>
                  <a:pt x="4924805" y="582073"/>
                </a:cubicBezTo>
                <a:cubicBezTo>
                  <a:pt x="4924805" y="664083"/>
                  <a:pt x="4943307" y="733092"/>
                  <a:pt x="4980312" y="789099"/>
                </a:cubicBezTo>
                <a:cubicBezTo>
                  <a:pt x="5017317" y="845106"/>
                  <a:pt x="5076825" y="909114"/>
                  <a:pt x="5158835" y="981123"/>
                </a:cubicBezTo>
                <a:lnTo>
                  <a:pt x="5359860" y="1158145"/>
                </a:lnTo>
                <a:cubicBezTo>
                  <a:pt x="5479875" y="1260158"/>
                  <a:pt x="5572887" y="1368171"/>
                  <a:pt x="5638895" y="1482186"/>
                </a:cubicBezTo>
                <a:cubicBezTo>
                  <a:pt x="5704903" y="1596200"/>
                  <a:pt x="5737907" y="1731217"/>
                  <a:pt x="5737907" y="1887236"/>
                </a:cubicBezTo>
                <a:cubicBezTo>
                  <a:pt x="5737907" y="2001250"/>
                  <a:pt x="5711403" y="2104763"/>
                  <a:pt x="5658397" y="2197775"/>
                </a:cubicBezTo>
                <a:cubicBezTo>
                  <a:pt x="5605391" y="2290787"/>
                  <a:pt x="5530881" y="2364296"/>
                  <a:pt x="5434869" y="2418302"/>
                </a:cubicBezTo>
                <a:cubicBezTo>
                  <a:pt x="5338857" y="2472309"/>
                  <a:pt x="5227843" y="2499313"/>
                  <a:pt x="5101827" y="2499313"/>
                </a:cubicBezTo>
                <a:cubicBezTo>
                  <a:pt x="4869799" y="2499313"/>
                  <a:pt x="4697277" y="2437805"/>
                  <a:pt x="4584263" y="2314790"/>
                </a:cubicBezTo>
                <a:cubicBezTo>
                  <a:pt x="4471249" y="2191774"/>
                  <a:pt x="4410741" y="1996250"/>
                  <a:pt x="4402741" y="1728216"/>
                </a:cubicBezTo>
                <a:lnTo>
                  <a:pt x="4861798" y="1659208"/>
                </a:lnTo>
                <a:cubicBezTo>
                  <a:pt x="4863798" y="1813227"/>
                  <a:pt x="4882299" y="1923741"/>
                  <a:pt x="4917305" y="1990749"/>
                </a:cubicBezTo>
                <a:cubicBezTo>
                  <a:pt x="4952309" y="2057758"/>
                  <a:pt x="5004815" y="2091262"/>
                  <a:pt x="5074824" y="2091262"/>
                </a:cubicBezTo>
                <a:cubicBezTo>
                  <a:pt x="5164835" y="2091262"/>
                  <a:pt x="5209841" y="2032254"/>
                  <a:pt x="5209841" y="1914240"/>
                </a:cubicBezTo>
                <a:cubicBezTo>
                  <a:pt x="5209841" y="1820228"/>
                  <a:pt x="5188338" y="1739218"/>
                  <a:pt x="5145333" y="1671209"/>
                </a:cubicBezTo>
                <a:cubicBezTo>
                  <a:pt x="5102327" y="1603201"/>
                  <a:pt x="5034819" y="1530192"/>
                  <a:pt x="4942807" y="1452182"/>
                </a:cubicBezTo>
                <a:lnTo>
                  <a:pt x="4732781" y="1269159"/>
                </a:lnTo>
                <a:cubicBezTo>
                  <a:pt x="4628769" y="1181148"/>
                  <a:pt x="4548259" y="1087636"/>
                  <a:pt x="4491251" y="988624"/>
                </a:cubicBezTo>
                <a:cubicBezTo>
                  <a:pt x="4434245" y="889612"/>
                  <a:pt x="4405741" y="772097"/>
                  <a:pt x="4405741" y="636080"/>
                </a:cubicBezTo>
                <a:cubicBezTo>
                  <a:pt x="4405741" y="432054"/>
                  <a:pt x="4466248" y="275034"/>
                  <a:pt x="4587263" y="165021"/>
                </a:cubicBezTo>
                <a:cubicBezTo>
                  <a:pt x="4708279" y="55007"/>
                  <a:pt x="4874799" y="0"/>
                  <a:pt x="5086825" y="0"/>
                </a:cubicBezTo>
                <a:close/>
              </a:path>
            </a:pathLst>
          </a:custGeom>
          <a:gradFill>
            <a:gsLst>
              <a:gs pos="31600">
                <a:schemeClr val="accent6">
                  <a:lumMod val="40000"/>
                  <a:lumOff val="60000"/>
                </a:schemeClr>
              </a:gs>
              <a:gs pos="1000">
                <a:schemeClr val="accent5">
                  <a:lumMod val="60000"/>
                  <a:lumOff val="40000"/>
                </a:schemeClr>
              </a:gs>
              <a:gs pos="61503">
                <a:srgbClr val="EDC2B7"/>
              </a:gs>
              <a:gs pos="75000">
                <a:schemeClr val="accent2">
                  <a:lumMod val="40000"/>
                  <a:lumOff val="6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3000000" scaled="0"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26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600" b="1" i="0" u="sng" strike="noStrike" kern="1200" cap="none" spc="16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swald Bold"/>
              <a:ea typeface="Oswald Bold"/>
              <a:cs typeface="Oswald Bold"/>
              <a:sym typeface="Oswald Bold"/>
            </a:endParaRPr>
          </a:p>
        </p:txBody>
      </p:sp>
    </p:spTree>
    <p:extLst>
      <p:ext uri="{BB962C8B-B14F-4D97-AF65-F5344CB8AC3E}">
        <p14:creationId xmlns:p14="http://schemas.microsoft.com/office/powerpoint/2010/main" val="1775590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Language Arts</dc:title>
  <cp:revision>2</cp:revision>
  <dcterms:created xsi:type="dcterms:W3CDTF">2006-08-16T00:00:00Z</dcterms:created>
  <dcterms:modified xsi:type="dcterms:W3CDTF">2026-09-30T15:13:22Z</dcterms:modified>
  <dc:identifier>DAGCCFFNm4A</dc:identifier>
</cp:coreProperties>
</file>